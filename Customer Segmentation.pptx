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IBM Plex Serif Bold" charset="1" panose="02060803050406000203"/>
      <p:regular r:id="rId33"/>
    </p:embeddedFont>
    <p:embeddedFont>
      <p:font typeface="IBM Plex Sans Italics" charset="1" panose="020B0503050203000203"/>
      <p:regular r:id="rId34"/>
    </p:embeddedFont>
    <p:embeddedFont>
      <p:font typeface="IBM Plex Mono" charset="1" panose="020B0509050203000203"/>
      <p:regular r:id="rId35"/>
    </p:embeddedFont>
    <p:embeddedFont>
      <p:font typeface="IBM Plex Sans Bold" charset="1" panose="020B0803050203000203"/>
      <p:regular r:id="rId36"/>
    </p:embeddedFont>
    <p:embeddedFont>
      <p:font typeface="IBM Plex Sans" charset="1" panose="020B0503050203000203"/>
      <p:regular r:id="rId37"/>
    </p:embeddedFont>
    <p:embeddedFont>
      <p:font typeface="IBM Plex Mono Bold" charset="1" panose="020B0809050203000203"/>
      <p:regular r:id="rId38"/>
    </p:embeddedFont>
    <p:embeddedFont>
      <p:font typeface="IBM Plex Serif" charset="1" panose="02060503050406000203"/>
      <p:regular r:id="rId39"/>
    </p:embeddedFont>
    <p:embeddedFont>
      <p:font typeface="IBM Plex Serif Italics" charset="1" panose="020605030504060002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1C2A3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845022"/>
            <a:ext cx="19050" cy="8001000"/>
            <a:chOff x="0" y="0"/>
            <a:chExt cx="25400" cy="1066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00" cy="10668000"/>
            </a:xfrm>
            <a:custGeom>
              <a:avLst/>
              <a:gdLst/>
              <a:ahLst/>
              <a:cxnLst/>
              <a:rect r="r" b="b" t="t" l="l"/>
              <a:pathLst>
                <a:path h="10668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0668000"/>
                  </a:lnTo>
                  <a:lnTo>
                    <a:pt x="0" y="106680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400" cy="1070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61995" y="3797135"/>
            <a:ext cx="15049500" cy="282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7200" b="true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Customer Segmentation Using RFM Analysis and Unsupervised Clustering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61995" y="435833"/>
            <a:ext cx="10427995" cy="2818377"/>
          </a:xfrm>
          <a:custGeom>
            <a:avLst/>
            <a:gdLst/>
            <a:ahLst/>
            <a:cxnLst/>
            <a:rect r="r" b="b" t="t" l="l"/>
            <a:pathLst>
              <a:path h="2818377" w="10427995">
                <a:moveTo>
                  <a:pt x="0" y="0"/>
                </a:moveTo>
                <a:lnTo>
                  <a:pt x="10427995" y="0"/>
                </a:lnTo>
                <a:lnTo>
                  <a:pt x="10427995" y="2818377"/>
                </a:lnTo>
                <a:lnTo>
                  <a:pt x="0" y="2818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1995" y="6914477"/>
            <a:ext cx="13335000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50" i="true">
                <a:solidFill>
                  <a:srgbClr val="000000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A comparative study of K-Means, Hierarchical Clustering, and Gaussian Mixture Models on 49,661 e-commerce customers.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61995" y="9258300"/>
            <a:ext cx="16383000" cy="455295"/>
            <a:chOff x="0" y="0"/>
            <a:chExt cx="21844000" cy="60706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8100"/>
              <a:ext cx="21844000" cy="568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40"/>
                </a:lnSpc>
              </a:pPr>
              <a:r>
                <a:rPr lang="en-US" sz="3000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Made by: Chang Tong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8100"/>
              <a:ext cx="21844000" cy="568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40"/>
                </a:lnSpc>
              </a:pPr>
              <a:r>
                <a:rPr lang="en-US" sz="3000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ID: CSE2024220035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61995" y="8841105"/>
            <a:ext cx="16383000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3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Lecturer: Mr. Him Soklong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79231" y="2725407"/>
            <a:ext cx="8234990" cy="4836185"/>
          </a:xfrm>
          <a:custGeom>
            <a:avLst/>
            <a:gdLst/>
            <a:ahLst/>
            <a:cxnLst/>
            <a:rect r="r" b="b" t="t" l="l"/>
            <a:pathLst>
              <a:path h="4836185" w="8234990">
                <a:moveTo>
                  <a:pt x="0" y="0"/>
                </a:moveTo>
                <a:lnTo>
                  <a:pt x="8234990" y="0"/>
                </a:lnTo>
                <a:lnTo>
                  <a:pt x="8234990" y="4836186"/>
                </a:lnTo>
                <a:lnTo>
                  <a:pt x="0" y="4836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6164" y="520719"/>
            <a:ext cx="5593795" cy="818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</a:pPr>
            <a:r>
              <a:rPr lang="en-US" b="true" sz="6734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CONTENTS </a:t>
            </a:r>
          </a:p>
          <a:p>
            <a:pPr algn="l">
              <a:lnSpc>
                <a:spcPts val="3408"/>
              </a:lnSpc>
            </a:pP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Context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Data Preparation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 Data Exploring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Feature Engineering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Approach 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Evaluation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Result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Final Outcome</a:t>
            </a:r>
          </a:p>
          <a:p>
            <a:pPr algn="l" marL="802780" indent="-401390" lvl="1">
              <a:lnSpc>
                <a:spcPts val="5205"/>
              </a:lnSpc>
              <a:buAutoNum type="arabicPeriod" startAt="1"/>
            </a:pPr>
            <a:r>
              <a:rPr lang="en-US" b="true" sz="3718">
                <a:solidFill>
                  <a:srgbClr val="000000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Reflection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03/27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873759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01  ·  CONTEXT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Problem Statement &amp; Dataset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500" y="2883027"/>
            <a:ext cx="7429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59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3387852"/>
            <a:ext cx="742950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E-commerce firms have vast transaction data, but lack the behavioral insights needed for targeted retention and marketing.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948047"/>
            <a:ext cx="7429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60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The Goal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5357622"/>
            <a:ext cx="742950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Segment ~50K customers using unsupervised RFM clustering to unlock actionable behavioral insights.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6570726"/>
            <a:ext cx="74295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60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Why Feature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7094601"/>
            <a:ext cx="7429500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 i="true">
                <a:solidFill>
                  <a:srgbClr val="5A647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Data is transaction-level; behavioural signal only emerges once records are aggregated to the customer level.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49104" y="2111502"/>
            <a:ext cx="7810500" cy="7410707"/>
            <a:chOff x="0" y="0"/>
            <a:chExt cx="10414000" cy="988094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414000" cy="9880942"/>
              <a:chOff x="0" y="0"/>
              <a:chExt cx="10414000" cy="988094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414000" cy="9880943"/>
              </a:xfrm>
              <a:custGeom>
                <a:avLst/>
                <a:gdLst/>
                <a:ahLst/>
                <a:cxnLst/>
                <a:rect r="r" b="b" t="t" l="l"/>
                <a:pathLst>
                  <a:path h="9880943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9880943"/>
                    </a:lnTo>
                    <a:lnTo>
                      <a:pt x="0" y="9880943"/>
                    </a:lnTo>
                    <a:close/>
                  </a:path>
                </a:pathLst>
              </a:custGeom>
              <a:solidFill>
                <a:srgbClr val="0E1A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0414000" cy="99190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62000" y="688975"/>
              <a:ext cx="8890000" cy="4607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9"/>
                </a:lnSpc>
              </a:pPr>
              <a:r>
                <a:rPr lang="en-US" sz="2049" spc="409">
                  <a:solidFill>
                    <a:srgbClr val="C9A227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DATASET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62000" y="1318684"/>
              <a:ext cx="9398000" cy="43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250" b="true">
                  <a:solidFill>
                    <a:srgbClr val="F5F2EC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E-Commerce Customer for Behavior Analysis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62000" y="2194984"/>
              <a:ext cx="8890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80">
                  <a:solidFill>
                    <a:srgbClr val="8B96A6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Source · Kaggle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62000" y="2842684"/>
              <a:ext cx="4318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5F2EC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250,000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62000" y="3642784"/>
              <a:ext cx="4318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20">
                  <a:solidFill>
                    <a:srgbClr val="8B96A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transaction records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334000" y="2842684"/>
              <a:ext cx="4318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5F2EC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49,661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5334000" y="3642784"/>
              <a:ext cx="4318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20">
                  <a:solidFill>
                    <a:srgbClr val="8B96A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unique customers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62000" y="4493684"/>
              <a:ext cx="4318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5F2EC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13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62000" y="5293784"/>
              <a:ext cx="4318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20">
                  <a:solidFill>
                    <a:srgbClr val="8B96A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columns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334000" y="4493684"/>
              <a:ext cx="4318000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true">
                  <a:solidFill>
                    <a:srgbClr val="F5F2EC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2020 – 2023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334000" y="5293784"/>
              <a:ext cx="4318000" cy="257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sz="1200" spc="120">
                  <a:solidFill>
                    <a:srgbClr val="8B96A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Jan '20 → Sep '23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762000" y="6455834"/>
              <a:ext cx="9398000" cy="12700"/>
              <a:chOff x="0" y="0"/>
              <a:chExt cx="9398000" cy="12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398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9398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2A3A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9398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762000" y="6671734"/>
              <a:ext cx="8890000" cy="5486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49" spc="509">
                  <a:solidFill>
                    <a:srgbClr val="8B96A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KEY COLUMNS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762000" y="7294035"/>
              <a:ext cx="9398000" cy="15549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77"/>
                </a:lnSpc>
              </a:pPr>
              <a:r>
                <a:rPr lang="en-US" sz="2049">
                  <a:solidFill>
                    <a:srgbClr val="C9D3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Customer ID · Purchase Date · Product Category · Price · Quantity · Total Amount · Payment Method · Age · Returns · Gender · Churn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95500" y="3159252"/>
            <a:ext cx="9525" cy="857250"/>
            <a:chOff x="0" y="0"/>
            <a:chExt cx="127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4111752"/>
            <a:ext cx="16383000" cy="9525"/>
            <a:chOff x="0" y="0"/>
            <a:chExt cx="21844000" cy="1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95500" y="4397502"/>
            <a:ext cx="9525" cy="857250"/>
            <a:chOff x="0" y="0"/>
            <a:chExt cx="127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7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2500" y="5350002"/>
            <a:ext cx="16383000" cy="9525"/>
            <a:chOff x="0" y="0"/>
            <a:chExt cx="21844000" cy="12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95500" y="5635752"/>
            <a:ext cx="9525" cy="857250"/>
            <a:chOff x="0" y="0"/>
            <a:chExt cx="12700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500" y="6588252"/>
            <a:ext cx="16383000" cy="9525"/>
            <a:chOff x="0" y="0"/>
            <a:chExt cx="21844000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95500" y="6874002"/>
            <a:ext cx="9525" cy="857250"/>
            <a:chOff x="0" y="0"/>
            <a:chExt cx="12700" cy="1143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7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2500" y="7826502"/>
            <a:ext cx="16383000" cy="9525"/>
            <a:chOff x="0" y="0"/>
            <a:chExt cx="21844000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844000" cy="12700"/>
            </a:xfrm>
            <a:custGeom>
              <a:avLst/>
              <a:gdLst/>
              <a:ahLst/>
              <a:cxnLst/>
              <a:rect r="r" b="b" t="t" l="l"/>
              <a:pathLst>
                <a:path h="127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184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95500" y="8112252"/>
            <a:ext cx="9525" cy="857250"/>
            <a:chOff x="0" y="0"/>
            <a:chExt cx="12700" cy="1143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7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700">
                  <a:moveTo>
                    <a:pt x="0" y="0"/>
                  </a:moveTo>
                  <a:lnTo>
                    <a:pt x="12700" y="0"/>
                  </a:lnTo>
                  <a:lnTo>
                    <a:pt x="127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7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0197759" y="3329338"/>
            <a:ext cx="7757997" cy="4556060"/>
          </a:xfrm>
          <a:custGeom>
            <a:avLst/>
            <a:gdLst/>
            <a:ahLst/>
            <a:cxnLst/>
            <a:rect r="r" b="b" t="t" l="l"/>
            <a:pathLst>
              <a:path h="4556060" w="7757997">
                <a:moveTo>
                  <a:pt x="0" y="0"/>
                </a:moveTo>
                <a:lnTo>
                  <a:pt x="7757997" y="0"/>
                </a:lnTo>
                <a:lnTo>
                  <a:pt x="7757997" y="4556059"/>
                </a:lnTo>
                <a:lnTo>
                  <a:pt x="0" y="4556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763000" y="9934575"/>
            <a:ext cx="8572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Advanced Data Mining — Aug 4, 2026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02  ·  PREPARATION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Data Cleaning Summary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2500" y="2911602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476500" y="2959227"/>
            <a:ext cx="4572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No duplicates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476500" y="3340227"/>
            <a:ext cx="1485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Zero exact duplicate rows detected across all 250K records.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2500" y="4149852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76500" y="4197477"/>
            <a:ext cx="4572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Missing 'Returns'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76500" y="4578477"/>
            <a:ext cx="1485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≈ 19% missing values imputed as zero (no return recorded).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2500" y="5388102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76500" y="5435727"/>
            <a:ext cx="4572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Invalid transactions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76500" y="5816727"/>
            <a:ext cx="1485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Rows with zero or negative Quantity, Price, or Total Amount removed.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2500" y="6626352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476500" y="6673977"/>
            <a:ext cx="4572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Redundant column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476500" y="7054977"/>
            <a:ext cx="1485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Dropped 'Age' (exact duplicate of 'Customer Age').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500" y="7864602"/>
            <a:ext cx="9525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476500" y="7912227"/>
            <a:ext cx="4572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Result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476500" y="8293227"/>
            <a:ext cx="148590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Clean transaction-level table ready for customer aggregation.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04/27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33500" y="5704332"/>
            <a:ext cx="16028766" cy="4508091"/>
          </a:xfrm>
          <a:custGeom>
            <a:avLst/>
            <a:gdLst/>
            <a:ahLst/>
            <a:cxnLst/>
            <a:rect r="r" b="b" t="t" l="l"/>
            <a:pathLst>
              <a:path h="4508091" w="16028766">
                <a:moveTo>
                  <a:pt x="0" y="0"/>
                </a:moveTo>
                <a:lnTo>
                  <a:pt x="16028766" y="0"/>
                </a:lnTo>
                <a:lnTo>
                  <a:pt x="16028766" y="4508091"/>
                </a:lnTo>
                <a:lnTo>
                  <a:pt x="0" y="4508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  ·  EXPLORATION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EDA on Raw Transactions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2797302"/>
            <a:ext cx="8001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Key Observations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3435477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Symmetric distributions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3759327"/>
            <a:ext cx="7772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Price, Quantity, and Total Amount are near-symmetric (skew ≈ 0) — a strong hint of synthetic data.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4572762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Balanced categories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4896612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 categories split ~25% each: Electronics, Clothing, Home, Books.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9465" y="3225927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Balanced payment mix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9465" y="3549777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Credit Card, PayPal, and Cash roughly balanced across transactions.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9465" y="4048887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Demographics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9465" y="4372737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Gender split ≈ 50/50 · average age ≈ 43.8 years.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9465" y="4871847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Behavioural signals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9465" y="5195697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Churn 20.1% · transaction-level return rate ≈ 50%.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05/27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838783" y="5466207"/>
            <a:ext cx="12610435" cy="4728913"/>
          </a:xfrm>
          <a:custGeom>
            <a:avLst/>
            <a:gdLst/>
            <a:ahLst/>
            <a:cxnLst/>
            <a:rect r="r" b="b" t="t" l="l"/>
            <a:pathLst>
              <a:path h="4728913" w="12610435">
                <a:moveTo>
                  <a:pt x="0" y="0"/>
                </a:moveTo>
                <a:lnTo>
                  <a:pt x="12610434" y="0"/>
                </a:lnTo>
                <a:lnTo>
                  <a:pt x="12610434" y="4728913"/>
                </a:lnTo>
                <a:lnTo>
                  <a:pt x="0" y="4728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  ·  EXPLORATION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EDA on Raw Transactions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2559177"/>
            <a:ext cx="8001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Key Observations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1100" y="3197352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Symmetric distributions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3521202"/>
            <a:ext cx="7772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Price, Quantity, and Total Amount are near-symmetric (skew ≈ 0) — a strong hint of synthetic data.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" y="4334637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Balanced categories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" y="4658487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Product categories split ~25% each: Electronics, Clothing, Home, Books.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9465" y="2987802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Balanced payment mix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29465" y="3311652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Credit Card, PayPal, and Cash roughly balanced across transactions.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29465" y="3810762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Demographics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9465" y="4134612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Gender split ≈ 50/50 · average age ≈ 43.8 years.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29465" y="4633722"/>
            <a:ext cx="77724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Behavioural signals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9465" y="4957572"/>
            <a:ext cx="77724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Churn 20.1% · transaction-level return rate ≈ 50%.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06/27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90846" y="3064002"/>
            <a:ext cx="8381654" cy="6585585"/>
          </a:xfrm>
          <a:custGeom>
            <a:avLst/>
            <a:gdLst/>
            <a:ahLst/>
            <a:cxnLst/>
            <a:rect r="r" b="b" t="t" l="l"/>
            <a:pathLst>
              <a:path h="6585585" w="8381654">
                <a:moveTo>
                  <a:pt x="0" y="0"/>
                </a:moveTo>
                <a:lnTo>
                  <a:pt x="8381654" y="0"/>
                </a:lnTo>
                <a:lnTo>
                  <a:pt x="8381654" y="6585585"/>
                </a:lnTo>
                <a:lnTo>
                  <a:pt x="0" y="6585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  ·  EXPLORATION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Correlation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53500" y="3130677"/>
            <a:ext cx="8382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Near-zero everywhere.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52593" y="3836238"/>
            <a:ext cx="564695" cy="37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326">
                <a:solidFill>
                  <a:srgbClr val="C845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52593" y="4252452"/>
            <a:ext cx="8282193" cy="38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539" spc="50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Weak numeric correlation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52593" y="4665563"/>
            <a:ext cx="8282193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995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pairwise correlations between Price, Quantity, Age, Returns, and Churn hover near zero at the transaction level.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03403" y="5759331"/>
            <a:ext cx="564695" cy="37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326">
                <a:solidFill>
                  <a:srgbClr val="C845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03403" y="6175545"/>
            <a:ext cx="8282193" cy="38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539" spc="50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Raw features aren't enough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03403" y="6588656"/>
            <a:ext cx="8282193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995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Individual transaction features do not, on their own, reveal customer behaviour patterns.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52593" y="7682424"/>
            <a:ext cx="564695" cy="37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176" spc="326">
                <a:solidFill>
                  <a:srgbClr val="C845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52593" y="8098638"/>
            <a:ext cx="8282193" cy="38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7"/>
              </a:lnSpc>
            </a:pPr>
            <a:r>
              <a:rPr lang="en-US" sz="2539" spc="50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Justifies aggregation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52593" y="8511749"/>
            <a:ext cx="8282193" cy="731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1995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Motivates aggregation to customer-level RFM features to surface meaningful behavioural signal for clustering.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07/27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3228782"/>
            <a:ext cx="2253307" cy="726873"/>
            <a:chOff x="0" y="0"/>
            <a:chExt cx="1574800" cy="50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4800" cy="508000"/>
            </a:xfrm>
            <a:custGeom>
              <a:avLst/>
              <a:gdLst/>
              <a:ahLst/>
              <a:cxnLst/>
              <a:rect r="r" b="b" t="t" l="l"/>
              <a:pathLst>
                <a:path h="508000" w="1574800">
                  <a:moveTo>
                    <a:pt x="0" y="0"/>
                  </a:moveTo>
                  <a:lnTo>
                    <a:pt x="1574800" y="0"/>
                  </a:lnTo>
                  <a:lnTo>
                    <a:pt x="15748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748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87525" y="3228782"/>
            <a:ext cx="3997803" cy="726873"/>
            <a:chOff x="0" y="0"/>
            <a:chExt cx="2794000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4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40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7047" y="3228782"/>
            <a:ext cx="3779741" cy="726873"/>
            <a:chOff x="0" y="0"/>
            <a:chExt cx="2641600" cy="50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41600" cy="508000"/>
            </a:xfrm>
            <a:custGeom>
              <a:avLst/>
              <a:gdLst/>
              <a:ahLst/>
              <a:cxnLst/>
              <a:rect r="r" b="b" t="t" l="l"/>
              <a:pathLst>
                <a:path h="508000" w="2641600">
                  <a:moveTo>
                    <a:pt x="0" y="0"/>
                  </a:moveTo>
                  <a:lnTo>
                    <a:pt x="2641600" y="0"/>
                  </a:lnTo>
                  <a:lnTo>
                    <a:pt x="26416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6416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28506" y="3228782"/>
            <a:ext cx="1381059" cy="726873"/>
            <a:chOff x="0" y="0"/>
            <a:chExt cx="9652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5200" cy="508000"/>
            </a:xfrm>
            <a:custGeom>
              <a:avLst/>
              <a:gdLst/>
              <a:ahLst/>
              <a:cxnLst/>
              <a:rect r="r" b="b" t="t" l="l"/>
              <a:pathLst>
                <a:path h="508000" w="965200">
                  <a:moveTo>
                    <a:pt x="0" y="0"/>
                  </a:moveTo>
                  <a:lnTo>
                    <a:pt x="965200" y="0"/>
                  </a:lnTo>
                  <a:lnTo>
                    <a:pt x="965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65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91283" y="3228782"/>
            <a:ext cx="3561679" cy="726873"/>
            <a:chOff x="0" y="0"/>
            <a:chExt cx="2489200" cy="50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89200" cy="508000"/>
            </a:xfrm>
            <a:custGeom>
              <a:avLst/>
              <a:gdLst/>
              <a:ahLst/>
              <a:cxnLst/>
              <a:rect r="r" b="b" t="t" l="l"/>
              <a:pathLst>
                <a:path h="508000" w="2489200">
                  <a:moveTo>
                    <a:pt x="0" y="0"/>
                  </a:moveTo>
                  <a:lnTo>
                    <a:pt x="2489200" y="0"/>
                  </a:lnTo>
                  <a:lnTo>
                    <a:pt x="2489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89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4407" y="5660794"/>
            <a:ext cx="4338078" cy="1555451"/>
            <a:chOff x="0" y="0"/>
            <a:chExt cx="5784104" cy="207393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784104" cy="2073935"/>
              <a:chOff x="0" y="0"/>
              <a:chExt cx="2125181" cy="762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125181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2125181">
                    <a:moveTo>
                      <a:pt x="8923" y="0"/>
                    </a:moveTo>
                    <a:lnTo>
                      <a:pt x="2116257" y="0"/>
                    </a:lnTo>
                    <a:cubicBezTo>
                      <a:pt x="2118624" y="0"/>
                      <a:pt x="2120894" y="940"/>
                      <a:pt x="2122567" y="2614"/>
                    </a:cubicBezTo>
                    <a:cubicBezTo>
                      <a:pt x="2124241" y="4287"/>
                      <a:pt x="2125181" y="6557"/>
                      <a:pt x="2125181" y="8923"/>
                    </a:cubicBezTo>
                    <a:lnTo>
                      <a:pt x="2125181" y="753077"/>
                    </a:lnTo>
                    <a:cubicBezTo>
                      <a:pt x="2125181" y="755443"/>
                      <a:pt x="2124241" y="757713"/>
                      <a:pt x="2122567" y="759386"/>
                    </a:cubicBezTo>
                    <a:cubicBezTo>
                      <a:pt x="2120894" y="761060"/>
                      <a:pt x="2118624" y="762000"/>
                      <a:pt x="2116257" y="762000"/>
                    </a:cubicBezTo>
                    <a:lnTo>
                      <a:pt x="8923" y="762000"/>
                    </a:lnTo>
                    <a:cubicBezTo>
                      <a:pt x="6557" y="762000"/>
                      <a:pt x="4287" y="761060"/>
                      <a:pt x="2614" y="759386"/>
                    </a:cubicBezTo>
                    <a:cubicBezTo>
                      <a:pt x="940" y="757713"/>
                      <a:pt x="0" y="755443"/>
                      <a:pt x="0" y="753077"/>
                    </a:cubicBezTo>
                    <a:lnTo>
                      <a:pt x="0" y="8923"/>
                    </a:lnTo>
                    <a:cubicBezTo>
                      <a:pt x="0" y="6557"/>
                      <a:pt x="940" y="4287"/>
                      <a:pt x="2614" y="2614"/>
                    </a:cubicBezTo>
                    <a:cubicBezTo>
                      <a:pt x="4287" y="940"/>
                      <a:pt x="6557" y="0"/>
                      <a:pt x="8923" y="0"/>
                    </a:cubicBezTo>
                    <a:close/>
                  </a:path>
                </a:pathLst>
              </a:custGeom>
              <a:solidFill>
                <a:srgbClr val="EBE6D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125181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7890" y="81112"/>
              <a:ext cx="619725" cy="617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en-US" sz="2857" b="true">
                  <a:solidFill>
                    <a:srgbClr val="C845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47890" y="555506"/>
              <a:ext cx="5288324" cy="71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72"/>
                </a:lnSpc>
              </a:pPr>
              <a:r>
                <a:rPr lang="en-US" sz="3266" b="true">
                  <a:solidFill>
                    <a:srgbClr val="0E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Log-transform skew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0266" y="5716039"/>
            <a:ext cx="4886161" cy="1555451"/>
            <a:chOff x="0" y="0"/>
            <a:chExt cx="6514881" cy="207393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6514881" cy="2073935"/>
              <a:chOff x="0" y="0"/>
              <a:chExt cx="2393681" cy="762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393681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2393681">
                    <a:moveTo>
                      <a:pt x="0" y="0"/>
                    </a:moveTo>
                    <a:lnTo>
                      <a:pt x="2393681" y="0"/>
                    </a:lnTo>
                    <a:lnTo>
                      <a:pt x="2393681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EBE6D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2393681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79209" y="81112"/>
              <a:ext cx="698023" cy="617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en-US" sz="2857" b="true">
                  <a:solidFill>
                    <a:srgbClr val="C845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209" y="555506"/>
              <a:ext cx="5956462" cy="71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72"/>
                </a:lnSpc>
              </a:pPr>
              <a:r>
                <a:rPr lang="en-US" sz="3266" b="true">
                  <a:solidFill>
                    <a:srgbClr val="0E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Aggregate → Customer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655389" y="5660794"/>
            <a:ext cx="4517503" cy="1555451"/>
            <a:chOff x="0" y="0"/>
            <a:chExt cx="6023337" cy="207393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023337" cy="2073935"/>
              <a:chOff x="0" y="0"/>
              <a:chExt cx="2213079" cy="762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213079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2213079">
                    <a:moveTo>
                      <a:pt x="0" y="0"/>
                    </a:moveTo>
                    <a:lnTo>
                      <a:pt x="2213079" y="0"/>
                    </a:lnTo>
                    <a:lnTo>
                      <a:pt x="2213079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EBE6D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213079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58143" y="81112"/>
              <a:ext cx="645358" cy="617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00"/>
                </a:lnSpc>
              </a:pPr>
              <a:r>
                <a:rPr lang="en-US" sz="2857" b="true">
                  <a:solidFill>
                    <a:srgbClr val="C845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3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58143" y="555506"/>
              <a:ext cx="5507051" cy="7165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72"/>
                </a:lnSpc>
              </a:pPr>
              <a:r>
                <a:rPr lang="en-US" sz="3266" b="true">
                  <a:solidFill>
                    <a:srgbClr val="0E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IQR outlier cap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99321" y="7911571"/>
            <a:ext cx="5048250" cy="1509755"/>
            <a:chOff x="0" y="0"/>
            <a:chExt cx="6731000" cy="201300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731000" cy="2013006"/>
              <a:chOff x="0" y="0"/>
              <a:chExt cx="2547941" cy="762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547941" cy="762000"/>
              </a:xfrm>
              <a:custGeom>
                <a:avLst/>
                <a:gdLst/>
                <a:ahLst/>
                <a:cxnLst/>
                <a:rect r="r" b="b" t="t" l="l"/>
                <a:pathLst>
                  <a:path h="762000" w="2547941">
                    <a:moveTo>
                      <a:pt x="0" y="0"/>
                    </a:moveTo>
                    <a:lnTo>
                      <a:pt x="2547941" y="0"/>
                    </a:lnTo>
                    <a:lnTo>
                      <a:pt x="2547941" y="762000"/>
                    </a:lnTo>
                    <a:lnTo>
                      <a:pt x="0" y="762000"/>
                    </a:lnTo>
                    <a:close/>
                  </a:path>
                </a:pathLst>
              </a:custGeom>
              <a:solidFill>
                <a:srgbClr val="EBE6D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2547941" cy="80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88471" y="86575"/>
              <a:ext cx="721179" cy="5911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83"/>
                </a:lnSpc>
              </a:pPr>
              <a:r>
                <a:rPr lang="en-US" sz="2773" b="true">
                  <a:solidFill>
                    <a:srgbClr val="C8452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4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88471" y="537227"/>
              <a:ext cx="6154057" cy="697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38"/>
                </a:lnSpc>
              </a:pPr>
              <a:r>
                <a:rPr lang="en-US" sz="3170" b="true">
                  <a:solidFill>
                    <a:srgbClr val="0E1A2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Standardize (μ=0, σ=1)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5503265" y="6330518"/>
            <a:ext cx="1234304" cy="216003"/>
          </a:xfrm>
          <a:custGeom>
            <a:avLst/>
            <a:gdLst/>
            <a:ahLst/>
            <a:cxnLst/>
            <a:rect r="r" b="b" t="t" l="l"/>
            <a:pathLst>
              <a:path h="216003" w="1234304">
                <a:moveTo>
                  <a:pt x="0" y="0"/>
                </a:moveTo>
                <a:lnTo>
                  <a:pt x="1234304" y="0"/>
                </a:lnTo>
                <a:lnTo>
                  <a:pt x="1234304" y="216004"/>
                </a:lnTo>
                <a:lnTo>
                  <a:pt x="0" y="216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306785" y="6277762"/>
            <a:ext cx="1234304" cy="216003"/>
          </a:xfrm>
          <a:custGeom>
            <a:avLst/>
            <a:gdLst/>
            <a:ahLst/>
            <a:cxnLst/>
            <a:rect r="r" b="b" t="t" l="l"/>
            <a:pathLst>
              <a:path h="216003" w="1234304">
                <a:moveTo>
                  <a:pt x="0" y="0"/>
                </a:moveTo>
                <a:lnTo>
                  <a:pt x="1234304" y="0"/>
                </a:lnTo>
                <a:lnTo>
                  <a:pt x="1234304" y="216003"/>
                </a:lnTo>
                <a:lnTo>
                  <a:pt x="0" y="216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8182882">
            <a:off x="12636379" y="7927852"/>
            <a:ext cx="2127714" cy="1127689"/>
          </a:xfrm>
          <a:custGeom>
            <a:avLst/>
            <a:gdLst/>
            <a:ahLst/>
            <a:cxnLst/>
            <a:rect r="r" b="b" t="t" l="l"/>
            <a:pathLst>
              <a:path h="1127689" w="2127714">
                <a:moveTo>
                  <a:pt x="0" y="0"/>
                </a:moveTo>
                <a:lnTo>
                  <a:pt x="2127715" y="0"/>
                </a:lnTo>
                <a:lnTo>
                  <a:pt x="2127715" y="1127689"/>
                </a:lnTo>
                <a:lnTo>
                  <a:pt x="0" y="11276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RFM Feature Engineering Method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·  FEATURE ENGINEERING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2500" y="3362875"/>
            <a:ext cx="225330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spc="183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Recency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387525" y="3362875"/>
            <a:ext cx="399780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spc="183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Frequency (log)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567047" y="3362875"/>
            <a:ext cx="377974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spc="183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Monetary (log)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528506" y="3362875"/>
            <a:ext cx="138105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spc="183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AOV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91283" y="3362875"/>
            <a:ext cx="3561679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sz="2289" spc="183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Return Rate 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2500" y="2522670"/>
            <a:ext cx="8382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59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Feature that used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86460" y="4754014"/>
            <a:ext cx="754866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00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TRANSFORMATION PIPELINE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08/27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46393" y="2244852"/>
            <a:ext cx="8214697" cy="3596509"/>
          </a:xfrm>
          <a:custGeom>
            <a:avLst/>
            <a:gdLst/>
            <a:ahLst/>
            <a:cxnLst/>
            <a:rect r="r" b="b" t="t" l="l"/>
            <a:pathLst>
              <a:path h="3596509" w="8214697">
                <a:moveTo>
                  <a:pt x="0" y="0"/>
                </a:moveTo>
                <a:lnTo>
                  <a:pt x="8214697" y="0"/>
                </a:lnTo>
                <a:lnTo>
                  <a:pt x="8214697" y="3596509"/>
                </a:lnTo>
                <a:lnTo>
                  <a:pt x="0" y="35965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7016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46393" y="5841361"/>
            <a:ext cx="8214697" cy="3596509"/>
          </a:xfrm>
          <a:custGeom>
            <a:avLst/>
            <a:gdLst/>
            <a:ahLst/>
            <a:cxnLst/>
            <a:rect r="r" b="b" t="t" l="l"/>
            <a:pathLst>
              <a:path h="3596509" w="8214697">
                <a:moveTo>
                  <a:pt x="0" y="0"/>
                </a:moveTo>
                <a:lnTo>
                  <a:pt x="8214697" y="0"/>
                </a:lnTo>
                <a:lnTo>
                  <a:pt x="8214697" y="3596508"/>
                </a:lnTo>
                <a:lnTo>
                  <a:pt x="0" y="3596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016" t="0" r="0" b="0"/>
            </a:stretch>
          </a:blipFill>
        </p:spPr>
      </p:sp>
      <p:graphicFrame>
        <p:nvGraphicFramePr>
          <p:cNvPr name="Object 13" id="13"/>
          <p:cNvGraphicFramePr/>
          <p:nvPr/>
        </p:nvGraphicFramePr>
        <p:xfrm>
          <a:off x="1028700" y="2778252"/>
          <a:ext cx="3771900" cy="5657850"/>
        </p:xfrm>
        <a:graphic>
          <a:graphicData uri="http://schemas.openxmlformats.org/presentationml/2006/ole">
            <p:oleObj imgW="4902200" imgH="67818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8763000" y="9934575"/>
            <a:ext cx="8572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Advanced Data Mining — Aug 4,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· FEATURE ENGINEERING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RFM Feature Engineering &amp; Distributions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09/27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0" y="2540127"/>
            <a:ext cx="18072274" cy="3666943"/>
          </a:xfrm>
          <a:custGeom>
            <a:avLst/>
            <a:gdLst/>
            <a:ahLst/>
            <a:cxnLst/>
            <a:rect r="r" b="b" t="t" l="l"/>
            <a:pathLst>
              <a:path h="3666943" w="18072274">
                <a:moveTo>
                  <a:pt x="0" y="0"/>
                </a:moveTo>
                <a:lnTo>
                  <a:pt x="18072274" y="0"/>
                </a:lnTo>
                <a:lnTo>
                  <a:pt x="18072274" y="3666943"/>
                </a:lnTo>
                <a:lnTo>
                  <a:pt x="0" y="3666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52" b="0"/>
            </a:stretch>
          </a:blipFill>
        </p:spPr>
      </p:sp>
      <p:graphicFrame>
        <p:nvGraphicFramePr>
          <p:cNvPr name="Object 12" id="12"/>
          <p:cNvGraphicFramePr/>
          <p:nvPr/>
        </p:nvGraphicFramePr>
        <p:xfrm>
          <a:off x="702311" y="6340420"/>
          <a:ext cx="13201650" cy="3771900"/>
        </p:xfrm>
        <a:graphic>
          <a:graphicData uri="http://schemas.openxmlformats.org/presentationml/2006/ole">
            <p:oleObj imgW="15836900" imgH="64008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· 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RFM Feature Engineering &amp; Distributions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10/26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00" y="2793433"/>
            <a:ext cx="7096330" cy="6464867"/>
            <a:chOff x="0" y="0"/>
            <a:chExt cx="9461773" cy="861982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461773" cy="8619822"/>
              <a:chOff x="0" y="0"/>
              <a:chExt cx="1588128" cy="144680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588128" cy="1446809"/>
              </a:xfrm>
              <a:custGeom>
                <a:avLst/>
                <a:gdLst/>
                <a:ahLst/>
                <a:cxnLst/>
                <a:rect r="r" b="b" t="t" l="l"/>
                <a:pathLst>
                  <a:path h="1446809" w="1588128">
                    <a:moveTo>
                      <a:pt x="65480" y="0"/>
                    </a:moveTo>
                    <a:lnTo>
                      <a:pt x="1522649" y="0"/>
                    </a:lnTo>
                    <a:cubicBezTo>
                      <a:pt x="1558812" y="0"/>
                      <a:pt x="1588128" y="29316"/>
                      <a:pt x="1588128" y="65480"/>
                    </a:cubicBezTo>
                    <a:lnTo>
                      <a:pt x="1588128" y="1381330"/>
                    </a:lnTo>
                    <a:cubicBezTo>
                      <a:pt x="1588128" y="1398696"/>
                      <a:pt x="1581230" y="1415351"/>
                      <a:pt x="1568950" y="1427631"/>
                    </a:cubicBezTo>
                    <a:cubicBezTo>
                      <a:pt x="1556670" y="1439911"/>
                      <a:pt x="1540015" y="1446809"/>
                      <a:pt x="1522649" y="1446809"/>
                    </a:cubicBezTo>
                    <a:lnTo>
                      <a:pt x="65480" y="1446809"/>
                    </a:lnTo>
                    <a:cubicBezTo>
                      <a:pt x="48113" y="1446809"/>
                      <a:pt x="31458" y="1439911"/>
                      <a:pt x="19179" y="1427631"/>
                    </a:cubicBezTo>
                    <a:cubicBezTo>
                      <a:pt x="6899" y="1415351"/>
                      <a:pt x="0" y="1398696"/>
                      <a:pt x="0" y="1381330"/>
                    </a:cubicBezTo>
                    <a:lnTo>
                      <a:pt x="0" y="65480"/>
                    </a:lnTo>
                    <a:cubicBezTo>
                      <a:pt x="0" y="48113"/>
                      <a:pt x="6899" y="31458"/>
                      <a:pt x="19179" y="19179"/>
                    </a:cubicBezTo>
                    <a:cubicBezTo>
                      <a:pt x="31458" y="6899"/>
                      <a:pt x="48113" y="0"/>
                      <a:pt x="6548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588128" cy="14944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919651" y="2976093"/>
              <a:ext cx="7622472" cy="14946"/>
              <a:chOff x="0" y="0"/>
              <a:chExt cx="6477000" cy="127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477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C9C2B4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477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19651" y="4022315"/>
              <a:ext cx="7622472" cy="14946"/>
              <a:chOff x="0" y="0"/>
              <a:chExt cx="6477000" cy="127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77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C9C2B4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477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19651" y="5068536"/>
              <a:ext cx="7622472" cy="14946"/>
              <a:chOff x="0" y="0"/>
              <a:chExt cx="6477000" cy="127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477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C9C2B4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477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919651" y="6114758"/>
              <a:ext cx="7622472" cy="14946"/>
              <a:chOff x="0" y="0"/>
              <a:chExt cx="6477000" cy="127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477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C9C2B4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6477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19651" y="7160980"/>
              <a:ext cx="7622472" cy="14946"/>
              <a:chOff x="0" y="0"/>
              <a:chExt cx="6477000" cy="127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477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C9C2B4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6477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919651" y="8207201"/>
              <a:ext cx="7622472" cy="14946"/>
              <a:chOff x="0" y="0"/>
              <a:chExt cx="6477000" cy="127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477000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6477000">
                    <a:moveTo>
                      <a:pt x="0" y="0"/>
                    </a:moveTo>
                    <a:lnTo>
                      <a:pt x="6477000" y="0"/>
                    </a:lnTo>
                    <a:lnTo>
                      <a:pt x="6477000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C9C2B4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6477000" cy="50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919651" y="394535"/>
              <a:ext cx="7622472" cy="1385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3530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Customer-Level Summary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919651" y="2041232"/>
              <a:ext cx="7622472" cy="359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3"/>
                </a:lnSpc>
              </a:pPr>
              <a:r>
                <a:rPr lang="en-US" sz="1588">
                  <a:solidFill>
                    <a:srgbClr val="5A647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Averages across 49,661 customers after feature engineering.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919651" y="3197497"/>
              <a:ext cx="3811236" cy="585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7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254 days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730887" y="3395899"/>
              <a:ext cx="3811236" cy="34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24"/>
                </a:lnSpc>
              </a:pPr>
              <a:r>
                <a:rPr lang="en-US" sz="1588" spc="79">
                  <a:solidFill>
                    <a:srgbClr val="5A647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Avg Recency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919651" y="4243718"/>
              <a:ext cx="3811236" cy="585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7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5 orders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730887" y="4442121"/>
              <a:ext cx="3811236" cy="34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24"/>
                </a:lnSpc>
              </a:pPr>
              <a:r>
                <a:rPr lang="en-US" sz="1588" spc="79">
                  <a:solidFill>
                    <a:srgbClr val="5A647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Avg Frequency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919651" y="5289940"/>
              <a:ext cx="3811236" cy="585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7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$13,720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730887" y="5488342"/>
              <a:ext cx="3811236" cy="34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24"/>
                </a:lnSpc>
              </a:pPr>
              <a:r>
                <a:rPr lang="en-US" sz="1588" spc="79">
                  <a:solidFill>
                    <a:srgbClr val="5A647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Avg Monetary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919651" y="6336161"/>
              <a:ext cx="3811236" cy="585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7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$2,727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730887" y="6534564"/>
              <a:ext cx="3811236" cy="34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24"/>
                </a:lnSpc>
              </a:pPr>
              <a:r>
                <a:rPr lang="en-US" sz="1588" spc="79">
                  <a:solidFill>
                    <a:srgbClr val="5A647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Avg AOV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919651" y="7382383"/>
              <a:ext cx="3811236" cy="5856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7"/>
                </a:lnSpc>
              </a:pPr>
              <a:r>
                <a:rPr lang="en-US" sz="2647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40.6%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730887" y="7580785"/>
              <a:ext cx="3811236" cy="34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24"/>
                </a:lnSpc>
              </a:pPr>
              <a:r>
                <a:rPr lang="en-US" sz="1588" spc="79">
                  <a:solidFill>
                    <a:srgbClr val="5A647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Avg Return Rate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9392433" y="2793433"/>
            <a:ext cx="6115748" cy="6218950"/>
          </a:xfrm>
          <a:custGeom>
            <a:avLst/>
            <a:gdLst/>
            <a:ahLst/>
            <a:cxnLst/>
            <a:rect r="r" b="b" t="t" l="l"/>
            <a:pathLst>
              <a:path h="6218950" w="6115748">
                <a:moveTo>
                  <a:pt x="0" y="0"/>
                </a:moveTo>
                <a:lnTo>
                  <a:pt x="6115748" y="0"/>
                </a:lnTo>
                <a:lnTo>
                  <a:pt x="6115748" y="6218951"/>
                </a:lnTo>
                <a:lnTo>
                  <a:pt x="0" y="6218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568" t="0" r="-29321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· FEATURE ENGINEERING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RFM Feature Engineering finding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11/27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9934575"/>
            <a:ext cx="1905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07 /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05  · 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Clustering Feature Set &amp; Approach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9718" y="3778377"/>
            <a:ext cx="4056019" cy="3782300"/>
            <a:chOff x="0" y="0"/>
            <a:chExt cx="5175250" cy="482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75250" cy="4826000"/>
            </a:xfrm>
            <a:custGeom>
              <a:avLst/>
              <a:gdLst/>
              <a:ahLst/>
              <a:cxnLst/>
              <a:rect r="r" b="b" t="t" l="l"/>
              <a:pathLst>
                <a:path h="48260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75250" cy="487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9718" y="3778377"/>
            <a:ext cx="4056019" cy="39814"/>
            <a:chOff x="0" y="0"/>
            <a:chExt cx="5175250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75250" cy="50800"/>
            </a:xfrm>
            <a:custGeom>
              <a:avLst/>
              <a:gdLst/>
              <a:ahLst/>
              <a:cxnLst/>
              <a:rect r="r" b="b" t="t" l="l"/>
              <a:pathLst>
                <a:path h="508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7525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38321" y="4019830"/>
            <a:ext cx="3458814" cy="53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sz="3134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8321" y="4645610"/>
            <a:ext cx="3458814" cy="26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 spc="323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FEATURES Selected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8321" y="5005647"/>
            <a:ext cx="3458814" cy="118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089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Recency · Frequency (log) · Monetary (log) · AOV · Return Rate 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8321" y="6094123"/>
            <a:ext cx="3458814" cy="36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2089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standardized.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894340" y="3778377"/>
            <a:ext cx="4056019" cy="3782300"/>
            <a:chOff x="0" y="0"/>
            <a:chExt cx="5175250" cy="482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75250" cy="4826000"/>
            </a:xfrm>
            <a:custGeom>
              <a:avLst/>
              <a:gdLst/>
              <a:ahLst/>
              <a:cxnLst/>
              <a:rect r="r" b="b" t="t" l="l"/>
              <a:pathLst>
                <a:path h="48260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5175250" cy="487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94340" y="3778377"/>
            <a:ext cx="4056019" cy="39814"/>
            <a:chOff x="0" y="0"/>
            <a:chExt cx="5175250" cy="50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75250" cy="50800"/>
            </a:xfrm>
            <a:custGeom>
              <a:avLst/>
              <a:gdLst/>
              <a:ahLst/>
              <a:cxnLst/>
              <a:rect r="r" b="b" t="t" l="l"/>
              <a:pathLst>
                <a:path h="508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17525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192943" y="4019830"/>
            <a:ext cx="3458814" cy="53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sz="3134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92943" y="4645610"/>
            <a:ext cx="3458814" cy="26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 spc="323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PARADIGM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92943" y="5005647"/>
            <a:ext cx="3458814" cy="157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089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Unsupervised — no ground-truth labels. Algorithms discover latent segments from behaviour alone.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48962" y="3778377"/>
            <a:ext cx="4056019" cy="3782300"/>
            <a:chOff x="0" y="0"/>
            <a:chExt cx="5175250" cy="482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75250" cy="4826000"/>
            </a:xfrm>
            <a:custGeom>
              <a:avLst/>
              <a:gdLst/>
              <a:ahLst/>
              <a:cxnLst/>
              <a:rect r="r" b="b" t="t" l="l"/>
              <a:pathLst>
                <a:path h="48260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175250" cy="487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48962" y="3778377"/>
            <a:ext cx="4056019" cy="39814"/>
            <a:chOff x="0" y="0"/>
            <a:chExt cx="5175250" cy="5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75250" cy="50800"/>
            </a:xfrm>
            <a:custGeom>
              <a:avLst/>
              <a:gdLst/>
              <a:ahLst/>
              <a:cxnLst/>
              <a:rect r="r" b="b" t="t" l="l"/>
              <a:pathLst>
                <a:path h="508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17525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547565" y="4019830"/>
            <a:ext cx="3458814" cy="53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sz="3134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47565" y="4645610"/>
            <a:ext cx="3458814" cy="26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 spc="323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TUNING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47565" y="5005647"/>
            <a:ext cx="3458814" cy="157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089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Grid search across k, initialization, linkage, and covariance types. Consistent metrics across methods.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603584" y="3778377"/>
            <a:ext cx="4056019" cy="3782300"/>
            <a:chOff x="0" y="0"/>
            <a:chExt cx="5175250" cy="482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75250" cy="4826000"/>
            </a:xfrm>
            <a:custGeom>
              <a:avLst/>
              <a:gdLst/>
              <a:ahLst/>
              <a:cxnLst/>
              <a:rect r="r" b="b" t="t" l="l"/>
              <a:pathLst>
                <a:path h="48260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175250" cy="4873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0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603584" y="3778377"/>
            <a:ext cx="4056019" cy="39814"/>
            <a:chOff x="0" y="0"/>
            <a:chExt cx="5175250" cy="50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75250" cy="50800"/>
            </a:xfrm>
            <a:custGeom>
              <a:avLst/>
              <a:gdLst/>
              <a:ahLst/>
              <a:cxnLst/>
              <a:rect r="r" b="b" t="t" l="l"/>
              <a:pathLst>
                <a:path h="50800" w="5175250">
                  <a:moveTo>
                    <a:pt x="0" y="0"/>
                  </a:moveTo>
                  <a:lnTo>
                    <a:pt x="5175250" y="0"/>
                  </a:lnTo>
                  <a:lnTo>
                    <a:pt x="5175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17525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902187" y="4019830"/>
            <a:ext cx="3458814" cy="53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8"/>
              </a:lnSpc>
            </a:pPr>
            <a:r>
              <a:rPr lang="en-US" sz="3134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02187" y="4645610"/>
            <a:ext cx="3458814" cy="26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 spc="323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PRIORITY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902187" y="5005647"/>
            <a:ext cx="3458814" cy="197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089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 focus on scalability to ~50K and sampling 10k customers and interpretability of resulting personas.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12/27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9934575"/>
            <a:ext cx="1905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0" y="9934575"/>
            <a:ext cx="8572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Advanced Data Mining — Aug 4,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 ·  ALGORITHMS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2968752"/>
            <a:ext cx="5270500" cy="6667500"/>
            <a:chOff x="0" y="0"/>
            <a:chExt cx="7027333" cy="889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2968752"/>
            <a:ext cx="5270500" cy="57150"/>
            <a:chOff x="0" y="0"/>
            <a:chExt cx="7027333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5400" y="332117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3D6B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5400" y="3702177"/>
            <a:ext cx="45847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K-Means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95400" y="5083302"/>
            <a:ext cx="57150" cy="57150"/>
            <a:chOff x="0" y="0"/>
            <a:chExt cx="762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85900" y="4921377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Fast, scalable to the full 49,661 customers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95400" y="5544312"/>
            <a:ext cx="57150" cy="57150"/>
            <a:chOff x="0" y="0"/>
            <a:chExt cx="76200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85900" y="5382387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Industry-standard baseline for RFM segmentation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95400" y="6319647"/>
            <a:ext cx="57150" cy="57150"/>
            <a:chOff x="0" y="0"/>
            <a:chExt cx="76200" cy="76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485900" y="6157722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Tuned k = 2–8 · init methods · n_init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95400" y="8302752"/>
            <a:ext cx="4584700" cy="9525"/>
            <a:chOff x="0" y="0"/>
            <a:chExt cx="6112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12933" cy="12700"/>
            </a:xfrm>
            <a:custGeom>
              <a:avLst/>
              <a:gdLst/>
              <a:ahLst/>
              <a:cxnLst/>
              <a:rect r="r" b="b" t="t" l="l"/>
              <a:pathLst>
                <a:path h="12700" w="6112933">
                  <a:moveTo>
                    <a:pt x="0" y="0"/>
                  </a:moveTo>
                  <a:lnTo>
                    <a:pt x="6112933" y="0"/>
                  </a:lnTo>
                  <a:lnTo>
                    <a:pt x="61129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112933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95400" y="844562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3D6B8A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CONFIGURATION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5400" y="8712327"/>
            <a:ext cx="45847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E1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k = 4  ·  init = random  ·  n_init = 20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08750" y="2968752"/>
            <a:ext cx="5270500" cy="6667500"/>
            <a:chOff x="0" y="0"/>
            <a:chExt cx="7027333" cy="889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08750" y="2968752"/>
            <a:ext cx="5270500" cy="57150"/>
            <a:chOff x="0" y="0"/>
            <a:chExt cx="7027333" cy="76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851650" y="332117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C84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02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51650" y="3702177"/>
            <a:ext cx="45847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Hierarchical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851650" y="5083302"/>
            <a:ext cx="57150" cy="57150"/>
            <a:chOff x="0" y="0"/>
            <a:chExt cx="76200" cy="76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7042150" y="4921377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Captures non-spherical clusters; no fixed k initially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851650" y="5858637"/>
            <a:ext cx="57150" cy="57150"/>
            <a:chOff x="0" y="0"/>
            <a:chExt cx="76200" cy="76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7042150" y="5696712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Useful for validating cluster count across methods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851650" y="6633972"/>
            <a:ext cx="57150" cy="57150"/>
            <a:chOff x="0" y="0"/>
            <a:chExt cx="76200" cy="76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7042150" y="6472047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Tuned k = 2–8 · linkage · distance metric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851650" y="7636002"/>
            <a:ext cx="4584700" cy="9525"/>
            <a:chOff x="0" y="0"/>
            <a:chExt cx="6112933" cy="127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12933" cy="12700"/>
            </a:xfrm>
            <a:custGeom>
              <a:avLst/>
              <a:gdLst/>
              <a:ahLst/>
              <a:cxnLst/>
              <a:rect r="r" b="b" t="t" l="l"/>
              <a:pathLst>
                <a:path h="12700" w="6112933">
                  <a:moveTo>
                    <a:pt x="0" y="0"/>
                  </a:moveTo>
                  <a:lnTo>
                    <a:pt x="6112933" y="0"/>
                  </a:lnTo>
                  <a:lnTo>
                    <a:pt x="61129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112933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6851650" y="777887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C84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CONFIGURATION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851650" y="8045577"/>
            <a:ext cx="458470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E1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k = 4  ·  linkage = complete  ·  metric = euclidean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851650" y="865517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CAVEAT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51650" y="8874252"/>
            <a:ext cx="45847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i="true">
                <a:solidFill>
                  <a:srgbClr val="5A6472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Ran on 4,000-customer sample due to O(n²) complexity.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2065000" y="2968752"/>
            <a:ext cx="5270500" cy="6667500"/>
            <a:chOff x="0" y="0"/>
            <a:chExt cx="7027333" cy="8890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65000" y="2968752"/>
            <a:ext cx="5270500" cy="57150"/>
            <a:chOff x="0" y="0"/>
            <a:chExt cx="7027333" cy="762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407900" y="332117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2F6B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03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407900" y="3702177"/>
            <a:ext cx="45847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GMM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2407900" y="5083302"/>
            <a:ext cx="57150" cy="57150"/>
            <a:chOff x="0" y="0"/>
            <a:chExt cx="76200" cy="762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2598400" y="4921377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Soft, probabilistic assignment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2407900" y="5544312"/>
            <a:ext cx="57150" cy="57150"/>
            <a:chOff x="0" y="0"/>
            <a:chExt cx="76200" cy="76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2598400" y="5382387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Models elliptical (non-isotropic) clusters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2407900" y="6005322"/>
            <a:ext cx="57150" cy="57150"/>
            <a:chOff x="0" y="0"/>
            <a:chExt cx="76200" cy="76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2598400" y="5843397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Tuned n_components = 2–8 · covariance types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2407900" y="8302752"/>
            <a:ext cx="4584700" cy="9525"/>
            <a:chOff x="0" y="0"/>
            <a:chExt cx="6112933" cy="127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12933" cy="12700"/>
            </a:xfrm>
            <a:custGeom>
              <a:avLst/>
              <a:gdLst/>
              <a:ahLst/>
              <a:cxnLst/>
              <a:rect r="r" b="b" t="t" l="l"/>
              <a:pathLst>
                <a:path h="12700" w="6112933">
                  <a:moveTo>
                    <a:pt x="0" y="0"/>
                  </a:moveTo>
                  <a:lnTo>
                    <a:pt x="6112933" y="0"/>
                  </a:lnTo>
                  <a:lnTo>
                    <a:pt x="61129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112933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407900" y="844562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2F6B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CONFIGURATION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2407900" y="8712327"/>
            <a:ext cx="45847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E1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n_components = 4  ·  covariance = tied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13/27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968752"/>
            <a:ext cx="5270500" cy="6667500"/>
            <a:chOff x="0" y="0"/>
            <a:chExt cx="7027333" cy="889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2968752"/>
            <a:ext cx="5270500" cy="57150"/>
            <a:chOff x="0" y="0"/>
            <a:chExt cx="7027333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5400" y="5083302"/>
            <a:ext cx="57150" cy="57150"/>
            <a:chOff x="0" y="0"/>
            <a:chExt cx="762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5400" y="5544312"/>
            <a:ext cx="57150" cy="57150"/>
            <a:chOff x="0" y="0"/>
            <a:chExt cx="76200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5400" y="6319647"/>
            <a:ext cx="57150" cy="57150"/>
            <a:chOff x="0" y="0"/>
            <a:chExt cx="762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5400" y="8302752"/>
            <a:ext cx="4584700" cy="9525"/>
            <a:chOff x="0" y="0"/>
            <a:chExt cx="6112933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12933" cy="12700"/>
            </a:xfrm>
            <a:custGeom>
              <a:avLst/>
              <a:gdLst/>
              <a:ahLst/>
              <a:cxnLst/>
              <a:rect r="r" b="b" t="t" l="l"/>
              <a:pathLst>
                <a:path h="12700" w="6112933">
                  <a:moveTo>
                    <a:pt x="0" y="0"/>
                  </a:moveTo>
                  <a:lnTo>
                    <a:pt x="6112933" y="0"/>
                  </a:lnTo>
                  <a:lnTo>
                    <a:pt x="61129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112933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673886" y="3025902"/>
            <a:ext cx="4940229" cy="3705171"/>
          </a:xfrm>
          <a:custGeom>
            <a:avLst/>
            <a:gdLst/>
            <a:ahLst/>
            <a:cxnLst/>
            <a:rect r="r" b="b" t="t" l="l"/>
            <a:pathLst>
              <a:path h="3705171" w="4940229">
                <a:moveTo>
                  <a:pt x="0" y="0"/>
                </a:moveTo>
                <a:lnTo>
                  <a:pt x="4940228" y="0"/>
                </a:lnTo>
                <a:lnTo>
                  <a:pt x="4940228" y="3705171"/>
                </a:lnTo>
                <a:lnTo>
                  <a:pt x="0" y="3705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144000" y="6697065"/>
            <a:ext cx="4739031" cy="3554273"/>
          </a:xfrm>
          <a:custGeom>
            <a:avLst/>
            <a:gdLst/>
            <a:ahLst/>
            <a:cxnLst/>
            <a:rect r="r" b="b" t="t" l="l"/>
            <a:pathLst>
              <a:path h="3554273" w="4739031">
                <a:moveTo>
                  <a:pt x="0" y="0"/>
                </a:moveTo>
                <a:lnTo>
                  <a:pt x="4739031" y="0"/>
                </a:lnTo>
                <a:lnTo>
                  <a:pt x="4739031" y="3554274"/>
                </a:lnTo>
                <a:lnTo>
                  <a:pt x="0" y="3554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043390" y="2968752"/>
            <a:ext cx="5919582" cy="3699738"/>
          </a:xfrm>
          <a:custGeom>
            <a:avLst/>
            <a:gdLst/>
            <a:ahLst/>
            <a:cxnLst/>
            <a:rect r="r" b="b" t="t" l="l"/>
            <a:pathLst>
              <a:path h="3699738" w="5919582">
                <a:moveTo>
                  <a:pt x="0" y="0"/>
                </a:moveTo>
                <a:lnTo>
                  <a:pt x="5919581" y="0"/>
                </a:lnTo>
                <a:lnTo>
                  <a:pt x="5919581" y="3699738"/>
                </a:lnTo>
                <a:lnTo>
                  <a:pt x="0" y="3699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52500" y="9934575"/>
            <a:ext cx="1905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· ALGORITHMS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5400" y="332117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3D6B8A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5400" y="3702177"/>
            <a:ext cx="45847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K-Means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5900" y="4921377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Fast, scalable of 10k out of 50k customers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85900" y="5382387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Industry-standard baseline for RFM segmentation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85900" y="6157722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Tuned k = 2–8 · init methods · n_init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5400" y="8445627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3D6B8A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CONFIGURATION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5400" y="8712327"/>
            <a:ext cx="45847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E1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k = 4  ·  init = random  ·  n_init = 20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14/27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9934575"/>
            <a:ext cx="1905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08 / 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· ALGORITHMS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94395" y="3212117"/>
            <a:ext cx="8216230" cy="4790502"/>
            <a:chOff x="0" y="0"/>
            <a:chExt cx="10954973" cy="638733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954973" cy="6387335"/>
              <a:chOff x="0" y="0"/>
              <a:chExt cx="11762214" cy="6858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762214" cy="6858000"/>
              </a:xfrm>
              <a:custGeom>
                <a:avLst/>
                <a:gdLst/>
                <a:ahLst/>
                <a:cxnLst/>
                <a:rect r="r" b="b" t="t" l="l"/>
                <a:pathLst>
                  <a:path h="6858000" w="11762214">
                    <a:moveTo>
                      <a:pt x="0" y="0"/>
                    </a:moveTo>
                    <a:lnTo>
                      <a:pt x="11762214" y="0"/>
                    </a:lnTo>
                    <a:lnTo>
                      <a:pt x="11762214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1762214" cy="689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91435" y="2332100"/>
              <a:ext cx="9972103" cy="3728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02166" indent="-201083" lvl="1">
                <a:lnSpc>
                  <a:spcPts val="2794"/>
                </a:lnSpc>
                <a:buFont typeface="Arial"/>
                <a:buChar char="•"/>
              </a:pPr>
              <a:r>
                <a:rPr lang="en-US" sz="1862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K=4 selected via Elbow curve (init=random, n_init=20).</a:t>
              </a:r>
            </a:p>
            <a:p>
              <a:pPr algn="l" marL="402166" indent="-201083" lvl="1">
                <a:lnSpc>
                  <a:spcPts val="2794"/>
                </a:lnSpc>
                <a:buFont typeface="Arial"/>
                <a:buChar char="•"/>
              </a:pPr>
              <a:r>
                <a:rPr lang="en-US" sz="1862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Metrics: Silhouette = 0.247 | Davies-Bouldin = 1.4693| Calinski-Harabasz = 2868.2</a:t>
              </a:r>
            </a:p>
            <a:p>
              <a:pPr algn="l" marL="402166" indent="-201083" lvl="1">
                <a:lnSpc>
                  <a:spcPts val="2794"/>
                </a:lnSpc>
                <a:buFont typeface="Arial"/>
                <a:buChar char="•"/>
              </a:pPr>
              <a:r>
                <a:rPr lang="en-US" sz="1862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Trade-off: K=2 had higher Silhouette (0.3054), but K=4 yields balanced, actionable personas.</a:t>
              </a:r>
            </a:p>
            <a:p>
              <a:pPr algn="l" marL="402166" indent="-201083" lvl="1">
                <a:lnSpc>
                  <a:spcPts val="2794"/>
                </a:lnSpc>
                <a:buFont typeface="Arial"/>
                <a:buChar char="•"/>
              </a:pPr>
              <a:r>
                <a:rPr lang="en-US" sz="1862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Next Steps: K-Means’ spherical assumption struggles with irregular data, motivating tests with GMM and Hierarchical Clustering.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91435" y="759247"/>
              <a:ext cx="10268403" cy="859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28"/>
                </a:lnSpc>
              </a:pPr>
              <a:r>
                <a:rPr lang="en-US" sz="4470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Result and Interpretation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15/27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144000" y="3059963"/>
            <a:ext cx="4062150" cy="3046613"/>
          </a:xfrm>
          <a:custGeom>
            <a:avLst/>
            <a:gdLst/>
            <a:ahLst/>
            <a:cxnLst/>
            <a:rect r="r" b="b" t="t" l="l"/>
            <a:pathLst>
              <a:path h="3046613" w="4062150">
                <a:moveTo>
                  <a:pt x="0" y="0"/>
                </a:moveTo>
                <a:lnTo>
                  <a:pt x="4062150" y="0"/>
                </a:lnTo>
                <a:lnTo>
                  <a:pt x="4062150" y="3046613"/>
                </a:lnTo>
                <a:lnTo>
                  <a:pt x="0" y="304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30010" y="6268396"/>
            <a:ext cx="4624594" cy="3468445"/>
          </a:xfrm>
          <a:custGeom>
            <a:avLst/>
            <a:gdLst/>
            <a:ahLst/>
            <a:cxnLst/>
            <a:rect r="r" b="b" t="t" l="l"/>
            <a:pathLst>
              <a:path h="3468445" w="4624594">
                <a:moveTo>
                  <a:pt x="0" y="0"/>
                </a:moveTo>
                <a:lnTo>
                  <a:pt x="4624594" y="0"/>
                </a:lnTo>
                <a:lnTo>
                  <a:pt x="4624594" y="3468445"/>
                </a:lnTo>
                <a:lnTo>
                  <a:pt x="0" y="346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331757" y="3059963"/>
            <a:ext cx="4845693" cy="3028558"/>
          </a:xfrm>
          <a:custGeom>
            <a:avLst/>
            <a:gdLst/>
            <a:ahLst/>
            <a:cxnLst/>
            <a:rect r="r" b="b" t="t" l="l"/>
            <a:pathLst>
              <a:path h="3028558" w="4845693">
                <a:moveTo>
                  <a:pt x="0" y="0"/>
                </a:moveTo>
                <a:lnTo>
                  <a:pt x="4845693" y="0"/>
                </a:lnTo>
                <a:lnTo>
                  <a:pt x="4845693" y="3028559"/>
                </a:lnTo>
                <a:lnTo>
                  <a:pt x="0" y="3028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2947" y="2860739"/>
            <a:ext cx="5270500" cy="6667500"/>
            <a:chOff x="0" y="0"/>
            <a:chExt cx="7027333" cy="889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2947" y="2860739"/>
            <a:ext cx="5270500" cy="57150"/>
            <a:chOff x="0" y="0"/>
            <a:chExt cx="7027333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25847" y="4975288"/>
            <a:ext cx="57150" cy="57150"/>
            <a:chOff x="0" y="0"/>
            <a:chExt cx="762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25847" y="5750624"/>
            <a:ext cx="57150" cy="57150"/>
            <a:chOff x="0" y="0"/>
            <a:chExt cx="76200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5847" y="6525959"/>
            <a:ext cx="57150" cy="57150"/>
            <a:chOff x="0" y="0"/>
            <a:chExt cx="762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5847" y="7527988"/>
            <a:ext cx="4584700" cy="9525"/>
            <a:chOff x="0" y="0"/>
            <a:chExt cx="6112933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12933" cy="12700"/>
            </a:xfrm>
            <a:custGeom>
              <a:avLst/>
              <a:gdLst/>
              <a:ahLst/>
              <a:cxnLst/>
              <a:rect r="r" b="b" t="t" l="l"/>
              <a:pathLst>
                <a:path h="12700" w="6112933">
                  <a:moveTo>
                    <a:pt x="0" y="0"/>
                  </a:moveTo>
                  <a:lnTo>
                    <a:pt x="6112933" y="0"/>
                  </a:lnTo>
                  <a:lnTo>
                    <a:pt x="61129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112933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779060" y="2797302"/>
            <a:ext cx="4411998" cy="3308999"/>
          </a:xfrm>
          <a:custGeom>
            <a:avLst/>
            <a:gdLst/>
            <a:ahLst/>
            <a:cxnLst/>
            <a:rect r="r" b="b" t="t" l="l"/>
            <a:pathLst>
              <a:path h="3308999" w="4411998">
                <a:moveTo>
                  <a:pt x="0" y="0"/>
                </a:moveTo>
                <a:lnTo>
                  <a:pt x="4411998" y="0"/>
                </a:lnTo>
                <a:lnTo>
                  <a:pt x="4411998" y="3308999"/>
                </a:lnTo>
                <a:lnTo>
                  <a:pt x="0" y="330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719332" y="2769041"/>
            <a:ext cx="4672164" cy="3337260"/>
          </a:xfrm>
          <a:custGeom>
            <a:avLst/>
            <a:gdLst/>
            <a:ahLst/>
            <a:cxnLst/>
            <a:rect r="r" b="b" t="t" l="l"/>
            <a:pathLst>
              <a:path h="3337260" w="4672164">
                <a:moveTo>
                  <a:pt x="0" y="0"/>
                </a:moveTo>
                <a:lnTo>
                  <a:pt x="4672164" y="0"/>
                </a:lnTo>
                <a:lnTo>
                  <a:pt x="4672164" y="3337260"/>
                </a:lnTo>
                <a:lnTo>
                  <a:pt x="0" y="3337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779060" y="6202109"/>
            <a:ext cx="9880544" cy="4116893"/>
          </a:xfrm>
          <a:custGeom>
            <a:avLst/>
            <a:gdLst/>
            <a:ahLst/>
            <a:cxnLst/>
            <a:rect r="r" b="b" t="t" l="l"/>
            <a:pathLst>
              <a:path h="4116893" w="9880544">
                <a:moveTo>
                  <a:pt x="0" y="0"/>
                </a:moveTo>
                <a:lnTo>
                  <a:pt x="9880544" y="0"/>
                </a:lnTo>
                <a:lnTo>
                  <a:pt x="9880544" y="4116893"/>
                </a:lnTo>
                <a:lnTo>
                  <a:pt x="0" y="4116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· ALGORITHMS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25847" y="3213164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C84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25847" y="3594164"/>
            <a:ext cx="45847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Hierarchical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16347" y="4813364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Captures non-spherical clusters; no fixed k initially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16347" y="5588699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Useful for validating cluster count across methods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16347" y="6364034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Tuned k = 2–8 · linkage · distance metric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25847" y="7670863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C84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CONFIGURATION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25847" y="7937563"/>
            <a:ext cx="4584700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E1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k = 4  ·  linkage = complete  ·  metric = euclidean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16/27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· ALGORITHMS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17791" y="3008376"/>
            <a:ext cx="6876882" cy="3111939"/>
            <a:chOff x="0" y="0"/>
            <a:chExt cx="9169176" cy="414925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169176" cy="4149252"/>
              <a:chOff x="0" y="0"/>
              <a:chExt cx="9336278" cy="422486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336278" cy="4224869"/>
              </a:xfrm>
              <a:custGeom>
                <a:avLst/>
                <a:gdLst/>
                <a:ahLst/>
                <a:cxnLst/>
                <a:rect r="r" b="b" t="t" l="l"/>
                <a:pathLst>
                  <a:path h="4224869" w="9336278">
                    <a:moveTo>
                      <a:pt x="0" y="0"/>
                    </a:moveTo>
                    <a:lnTo>
                      <a:pt x="9336278" y="0"/>
                    </a:lnTo>
                    <a:lnTo>
                      <a:pt x="9336278" y="4224869"/>
                    </a:lnTo>
                    <a:lnTo>
                      <a:pt x="0" y="4224869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336278" cy="42629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02439" y="317176"/>
              <a:ext cx="8407810" cy="752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9"/>
                </a:lnSpc>
              </a:pPr>
              <a:r>
                <a:rPr lang="en-US" sz="3897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Result and Interpretation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02439" y="1490216"/>
              <a:ext cx="8373472" cy="210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24072" indent="-212036" lvl="1">
                <a:lnSpc>
                  <a:spcPts val="2121"/>
                </a:lnSpc>
                <a:buFont typeface="Arial"/>
                <a:buChar char="•"/>
              </a:pPr>
              <a:r>
                <a:rPr lang="en-US" sz="1964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Best Setup: Complete linkage, Euclidean metric (K=4).</a:t>
              </a:r>
            </a:p>
            <a:p>
              <a:pPr algn="l" marL="424072" indent="-212036" lvl="1">
                <a:lnSpc>
                  <a:spcPts val="2121"/>
                </a:lnSpc>
                <a:buFont typeface="Arial"/>
                <a:buChar char="•"/>
              </a:pPr>
              <a:r>
                <a:rPr lang="en-US" sz="1964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Metrics (Sample = 10000): Silhouette = 0.3016(Highest) | DB = 1.6219| CH = 1469.2</a:t>
              </a:r>
            </a:p>
            <a:p>
              <a:pPr algn="l" marL="424072" indent="-212036" lvl="1">
                <a:lnSpc>
                  <a:spcPts val="2121"/>
                </a:lnSpc>
                <a:buFont typeface="Arial"/>
                <a:buChar char="•"/>
              </a:pPr>
              <a:r>
                <a:rPr lang="en-US" sz="1964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Win overall out of the data</a:t>
              </a:r>
            </a:p>
            <a:p>
              <a:pPr algn="l" marL="424072" indent="-212036" lvl="1">
                <a:lnSpc>
                  <a:spcPts val="2121"/>
                </a:lnSpc>
                <a:buFont typeface="Arial"/>
                <a:buChar char="•"/>
              </a:pPr>
              <a:r>
                <a:rPr lang="en-US" sz="1964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Best when used with K=4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17/27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933781" y="2606488"/>
            <a:ext cx="4411998" cy="3308999"/>
          </a:xfrm>
          <a:custGeom>
            <a:avLst/>
            <a:gdLst/>
            <a:ahLst/>
            <a:cxnLst/>
            <a:rect r="r" b="b" t="t" l="l"/>
            <a:pathLst>
              <a:path h="3308999" w="4411998">
                <a:moveTo>
                  <a:pt x="0" y="0"/>
                </a:moveTo>
                <a:lnTo>
                  <a:pt x="4411999" y="0"/>
                </a:lnTo>
                <a:lnTo>
                  <a:pt x="4411999" y="3308999"/>
                </a:lnTo>
                <a:lnTo>
                  <a:pt x="0" y="330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874053" y="2578227"/>
            <a:ext cx="4672164" cy="3337260"/>
          </a:xfrm>
          <a:custGeom>
            <a:avLst/>
            <a:gdLst/>
            <a:ahLst/>
            <a:cxnLst/>
            <a:rect r="r" b="b" t="t" l="l"/>
            <a:pathLst>
              <a:path h="3337260" w="4672164">
                <a:moveTo>
                  <a:pt x="0" y="0"/>
                </a:moveTo>
                <a:lnTo>
                  <a:pt x="4672164" y="0"/>
                </a:lnTo>
                <a:lnTo>
                  <a:pt x="4672164" y="3337260"/>
                </a:lnTo>
                <a:lnTo>
                  <a:pt x="0" y="3337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933781" y="6011295"/>
            <a:ext cx="9880544" cy="4116893"/>
          </a:xfrm>
          <a:custGeom>
            <a:avLst/>
            <a:gdLst/>
            <a:ahLst/>
            <a:cxnLst/>
            <a:rect r="r" b="b" t="t" l="l"/>
            <a:pathLst>
              <a:path h="4116893" w="9880544">
                <a:moveTo>
                  <a:pt x="0" y="0"/>
                </a:moveTo>
                <a:lnTo>
                  <a:pt x="9880544" y="0"/>
                </a:lnTo>
                <a:lnTo>
                  <a:pt x="9880544" y="4116893"/>
                </a:lnTo>
                <a:lnTo>
                  <a:pt x="0" y="4116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921127"/>
            <a:ext cx="5270500" cy="6667500"/>
            <a:chOff x="0" y="0"/>
            <a:chExt cx="7027333" cy="889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2921127"/>
            <a:ext cx="5270500" cy="57150"/>
            <a:chOff x="0" y="0"/>
            <a:chExt cx="7027333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5035677"/>
            <a:ext cx="57150" cy="57150"/>
            <a:chOff x="0" y="0"/>
            <a:chExt cx="762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71600" y="5496687"/>
            <a:ext cx="57150" cy="57150"/>
            <a:chOff x="0" y="0"/>
            <a:chExt cx="76200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71600" y="5957697"/>
            <a:ext cx="57150" cy="57150"/>
            <a:chOff x="0" y="0"/>
            <a:chExt cx="76200" cy="76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62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600" y="8255127"/>
            <a:ext cx="4584700" cy="9525"/>
            <a:chOff x="0" y="0"/>
            <a:chExt cx="6112933" cy="12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12933" cy="12700"/>
            </a:xfrm>
            <a:custGeom>
              <a:avLst/>
              <a:gdLst/>
              <a:ahLst/>
              <a:cxnLst/>
              <a:rect r="r" b="b" t="t" l="l"/>
              <a:pathLst>
                <a:path h="12700" w="6112933">
                  <a:moveTo>
                    <a:pt x="0" y="0"/>
                  </a:moveTo>
                  <a:lnTo>
                    <a:pt x="6112933" y="0"/>
                  </a:lnTo>
                  <a:lnTo>
                    <a:pt x="611293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112933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730633" y="2805377"/>
            <a:ext cx="5313461" cy="3320913"/>
          </a:xfrm>
          <a:custGeom>
            <a:avLst/>
            <a:gdLst/>
            <a:ahLst/>
            <a:cxnLst/>
            <a:rect r="r" b="b" t="t" l="l"/>
            <a:pathLst>
              <a:path h="3320913" w="5313461">
                <a:moveTo>
                  <a:pt x="0" y="0"/>
                </a:moveTo>
                <a:lnTo>
                  <a:pt x="5313461" y="0"/>
                </a:lnTo>
                <a:lnTo>
                  <a:pt x="5313461" y="3320913"/>
                </a:lnTo>
                <a:lnTo>
                  <a:pt x="0" y="332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72719" y="2697968"/>
            <a:ext cx="4948286" cy="3711214"/>
          </a:xfrm>
          <a:custGeom>
            <a:avLst/>
            <a:gdLst/>
            <a:ahLst/>
            <a:cxnLst/>
            <a:rect r="r" b="b" t="t" l="l"/>
            <a:pathLst>
              <a:path h="3711214" w="4948286">
                <a:moveTo>
                  <a:pt x="0" y="0"/>
                </a:moveTo>
                <a:lnTo>
                  <a:pt x="4948286" y="0"/>
                </a:lnTo>
                <a:lnTo>
                  <a:pt x="4948286" y="3711214"/>
                </a:lnTo>
                <a:lnTo>
                  <a:pt x="0" y="3711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221279" y="6542532"/>
            <a:ext cx="9196471" cy="3284454"/>
          </a:xfrm>
          <a:custGeom>
            <a:avLst/>
            <a:gdLst/>
            <a:ahLst/>
            <a:cxnLst/>
            <a:rect r="r" b="b" t="t" l="l"/>
            <a:pathLst>
              <a:path h="3284454" w="9196471">
                <a:moveTo>
                  <a:pt x="0" y="0"/>
                </a:moveTo>
                <a:lnTo>
                  <a:pt x="9196471" y="0"/>
                </a:lnTo>
                <a:lnTo>
                  <a:pt x="9196471" y="3284454"/>
                </a:lnTo>
                <a:lnTo>
                  <a:pt x="0" y="3284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· ALGORITHMS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1600" y="3273552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2F6B4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ALGORITHM 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3654552"/>
            <a:ext cx="45847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GMM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2100" y="4873752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Soft, probabilistic assignment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62100" y="5334762"/>
            <a:ext cx="43942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Models elliptical (non-isotropic) clusters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62100" y="5795772"/>
            <a:ext cx="43942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Tuned n_components = 2–8 · covariance types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1600" y="8398002"/>
            <a:ext cx="45847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2F6B4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CONFIGURATION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1600" y="8664702"/>
            <a:ext cx="45847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E1A2B"/>
                </a:solidFill>
                <a:latin typeface="IBM Plex Mono"/>
                <a:ea typeface="IBM Plex Mono"/>
                <a:cs typeface="IBM Plex Mono"/>
                <a:sym typeface="IBM Plex Mono"/>
              </a:rPr>
              <a:t>n_components = 4  ·  covariance = tied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18/27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06 · ALGORITHMS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Algorithms Selected &amp; Rationales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75628" y="3236766"/>
            <a:ext cx="6858200" cy="5055528"/>
            <a:chOff x="0" y="0"/>
            <a:chExt cx="9144267" cy="67407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144267" cy="6740704"/>
              <a:chOff x="0" y="0"/>
              <a:chExt cx="9144267" cy="674070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144267" cy="6740704"/>
              </a:xfrm>
              <a:custGeom>
                <a:avLst/>
                <a:gdLst/>
                <a:ahLst/>
                <a:cxnLst/>
                <a:rect r="r" b="b" t="t" l="l"/>
                <a:pathLst>
                  <a:path h="6740704" w="9144267">
                    <a:moveTo>
                      <a:pt x="0" y="0"/>
                    </a:moveTo>
                    <a:lnTo>
                      <a:pt x="9144267" y="0"/>
                    </a:lnTo>
                    <a:lnTo>
                      <a:pt x="9144267" y="6740704"/>
                    </a:lnTo>
                    <a:lnTo>
                      <a:pt x="0" y="6740704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144267" cy="67788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9797" y="492125"/>
              <a:ext cx="8944672" cy="771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96"/>
                </a:lnSpc>
              </a:pPr>
              <a:r>
                <a:rPr lang="en-US" sz="4070" b="true">
                  <a:solidFill>
                    <a:srgbClr val="0E1A2B"/>
                  </a:solidFill>
                  <a:latin typeface="IBM Plex Serif Bold"/>
                  <a:ea typeface="IBM Plex Serif Bold"/>
                  <a:cs typeface="IBM Plex Serif Bold"/>
                  <a:sym typeface="IBM Plex Serif Bold"/>
                </a:rPr>
                <a:t>Result and Interpretation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9797" y="1972649"/>
              <a:ext cx="8336701" cy="4199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IBM Plex Serif"/>
                  <a:ea typeface="IBM Plex Serif"/>
                  <a:cs typeface="IBM Plex Serif"/>
                  <a:sym typeface="IBM Plex Serif"/>
                </a:rPr>
                <a:t>Best Setup: Tied covariance (K=4).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IBM Plex Serif"/>
                  <a:ea typeface="IBM Plex Serif"/>
                  <a:cs typeface="IBM Plex Serif"/>
                  <a:sym typeface="IBM Plex Serif"/>
                </a:rPr>
                <a:t>Metrics: Silhouette = 0.2694(Highest) | DB = 1.4685| CH = 750.32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Key Insight: Full covariance won BIC/AIC but dropped Silhouette to 0.159 (overlap). Statistical fit =/ neq best separation.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Takeaway: High posterior confidence (&gt;95%) confirms distinct clusters; tied covariance balances flexibility and clean separation.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19/27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7620000" y="2904711"/>
            <a:ext cx="5313461" cy="3320913"/>
          </a:xfrm>
          <a:custGeom>
            <a:avLst/>
            <a:gdLst/>
            <a:ahLst/>
            <a:cxnLst/>
            <a:rect r="r" b="b" t="t" l="l"/>
            <a:pathLst>
              <a:path h="3320913" w="5313461">
                <a:moveTo>
                  <a:pt x="0" y="0"/>
                </a:moveTo>
                <a:lnTo>
                  <a:pt x="5313461" y="0"/>
                </a:lnTo>
                <a:lnTo>
                  <a:pt x="5313461" y="3320913"/>
                </a:lnTo>
                <a:lnTo>
                  <a:pt x="0" y="332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362086" y="2797302"/>
            <a:ext cx="4948286" cy="3711214"/>
          </a:xfrm>
          <a:custGeom>
            <a:avLst/>
            <a:gdLst/>
            <a:ahLst/>
            <a:cxnLst/>
            <a:rect r="r" b="b" t="t" l="l"/>
            <a:pathLst>
              <a:path h="3711214" w="4948286">
                <a:moveTo>
                  <a:pt x="0" y="0"/>
                </a:moveTo>
                <a:lnTo>
                  <a:pt x="4948285" y="0"/>
                </a:lnTo>
                <a:lnTo>
                  <a:pt x="4948285" y="3711214"/>
                </a:lnTo>
                <a:lnTo>
                  <a:pt x="0" y="3711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10646" y="6641866"/>
            <a:ext cx="9196471" cy="3284454"/>
          </a:xfrm>
          <a:custGeom>
            <a:avLst/>
            <a:gdLst/>
            <a:ahLst/>
            <a:cxnLst/>
            <a:rect r="r" b="b" t="t" l="l"/>
            <a:pathLst>
              <a:path h="3284454" w="9196471">
                <a:moveTo>
                  <a:pt x="0" y="0"/>
                </a:moveTo>
                <a:lnTo>
                  <a:pt x="9196471" y="0"/>
                </a:lnTo>
                <a:lnTo>
                  <a:pt x="9196471" y="3284454"/>
                </a:lnTo>
                <a:lnTo>
                  <a:pt x="0" y="3284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763000" y="9934575"/>
            <a:ext cx="8572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Advanced Data Mining — Aug 4,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07  ·  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Clustering Evaluation Metrics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3064002"/>
            <a:ext cx="16383000" cy="1905000"/>
            <a:chOff x="0" y="0"/>
            <a:chExt cx="21844000" cy="254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84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84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2500" y="3064002"/>
            <a:ext cx="76200" cy="1905000"/>
            <a:chOff x="0" y="0"/>
            <a:chExt cx="101600" cy="254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6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33500" y="3483102"/>
            <a:ext cx="476250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Silhouette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3500" y="4273677"/>
            <a:ext cx="4877054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49" spc="269">
                <a:solidFill>
                  <a:srgbClr val="C84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RANGE  –1 to 1     ·     HIGHER IS BETTER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906750" y="3286887"/>
            <a:ext cx="952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00"/>
              </a:lnSpc>
            </a:pPr>
            <a:r>
              <a:rPr lang="en-US" sz="750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↑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55802" y="3745992"/>
            <a:ext cx="790597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Measures cluster cohesion vs. separation—the most interpretable geometric metric for clustering quality.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52500" y="5159502"/>
            <a:ext cx="16383000" cy="1905000"/>
            <a:chOff x="0" y="0"/>
            <a:chExt cx="21844000" cy="254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84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84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2500" y="5159502"/>
            <a:ext cx="76200" cy="1905000"/>
            <a:chOff x="0" y="0"/>
            <a:chExt cx="101600" cy="2540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16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33500" y="5578602"/>
            <a:ext cx="4762500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Davies-Bouldin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3500" y="6359652"/>
            <a:ext cx="4762500" cy="25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spc="289">
                <a:solidFill>
                  <a:srgbClr val="3D6B8A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RANGE  ≥ 0     ·     LOWER IS BETTER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906750" y="5388102"/>
            <a:ext cx="952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00"/>
              </a:lnSpc>
            </a:pPr>
            <a:r>
              <a:rPr lang="en-US" sz="7500" b="true">
                <a:solidFill>
                  <a:srgbClr val="3D6B8A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↓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55802" y="5781484"/>
            <a:ext cx="790597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Measures average similarity between nearest clusters—lower values indicate tight, well-separated groups.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2500" y="7255002"/>
            <a:ext cx="16383000" cy="1905000"/>
            <a:chOff x="0" y="0"/>
            <a:chExt cx="21844000" cy="254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844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844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2500" y="7255002"/>
            <a:ext cx="76200" cy="1905000"/>
            <a:chOff x="0" y="0"/>
            <a:chExt cx="101600" cy="254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16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16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33500" y="7674102"/>
            <a:ext cx="5717113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Calinski-Harabasz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3500" y="8455152"/>
            <a:ext cx="4762500" cy="25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spc="289">
                <a:solidFill>
                  <a:srgbClr val="2F6B4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RANGE  ≥ 0     ·     HIGHER IS BETTER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906750" y="7283577"/>
            <a:ext cx="952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500"/>
              </a:lnSpc>
            </a:pPr>
            <a:r>
              <a:rPr lang="en-US" sz="7500" b="true">
                <a:solidFill>
                  <a:srgbClr val="2F6B4F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↑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55802" y="7816977"/>
            <a:ext cx="7905974" cy="92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Ratio of between-cluster to within-cluster dispersion—rewards dense, well-separated partitions.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20/27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08  ·  RESULTS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Side-by-Side Performance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8165" y="3445002"/>
            <a:ext cx="17811318" cy="571500"/>
            <a:chOff x="0" y="0"/>
            <a:chExt cx="23748424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48423" cy="762000"/>
            </a:xfrm>
            <a:custGeom>
              <a:avLst/>
              <a:gdLst/>
              <a:ahLst/>
              <a:cxnLst/>
              <a:rect r="r" b="b" t="t" l="l"/>
              <a:pathLst>
                <a:path h="762000" w="23748423">
                  <a:moveTo>
                    <a:pt x="0" y="0"/>
                  </a:moveTo>
                  <a:lnTo>
                    <a:pt x="23748423" y="0"/>
                  </a:lnTo>
                  <a:lnTo>
                    <a:pt x="23748423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3748424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73852" y="3556127"/>
            <a:ext cx="244387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 b="true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ALGORITHM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66261" y="3551365"/>
            <a:ext cx="492917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 b="true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BEST PARAMETERS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5787" y="3551365"/>
            <a:ext cx="271926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 b="true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SILHOUETTE ↑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31947" y="3551365"/>
            <a:ext cx="261987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 b="true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DAVIES-BOULDIN ↓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35854" y="3556127"/>
            <a:ext cx="297998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 b="true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CALINSKI-HARABASZ ↑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82713" y="3551365"/>
            <a:ext cx="223677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300" b="true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OUTCOME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08165" y="4016502"/>
            <a:ext cx="17811318" cy="1047750"/>
            <a:chOff x="0" y="0"/>
            <a:chExt cx="23748424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48423" cy="1397000"/>
            </a:xfrm>
            <a:custGeom>
              <a:avLst/>
              <a:gdLst/>
              <a:ahLst/>
              <a:cxnLst/>
              <a:rect r="r" b="b" t="t" l="l"/>
              <a:pathLst>
                <a:path h="1397000" w="23748423">
                  <a:moveTo>
                    <a:pt x="0" y="0"/>
                  </a:moveTo>
                  <a:lnTo>
                    <a:pt x="23748423" y="0"/>
                  </a:lnTo>
                  <a:lnTo>
                    <a:pt x="23748423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3748424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8165" y="4016502"/>
            <a:ext cx="62133" cy="1047750"/>
            <a:chOff x="0" y="0"/>
            <a:chExt cx="82843" cy="139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843" cy="1397000"/>
            </a:xfrm>
            <a:custGeom>
              <a:avLst/>
              <a:gdLst/>
              <a:ahLst/>
              <a:cxnLst/>
              <a:rect r="r" b="b" t="t" l="l"/>
              <a:pathLst>
                <a:path h="1397000" w="82843">
                  <a:moveTo>
                    <a:pt x="0" y="0"/>
                  </a:moveTo>
                  <a:lnTo>
                    <a:pt x="82843" y="0"/>
                  </a:lnTo>
                  <a:lnTo>
                    <a:pt x="82843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843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56695" y="4302252"/>
            <a:ext cx="244387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K-Means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66261" y="4378452"/>
            <a:ext cx="4929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E1A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k=4 · random init · n_init=20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43969" y="4302252"/>
            <a:ext cx="18225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0.2060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15053" y="4302252"/>
            <a:ext cx="223677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1.4648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00353" y="4302252"/>
            <a:ext cx="2650987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1438.2640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99870" y="4397502"/>
            <a:ext cx="223677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C2B4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—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208165" y="5064252"/>
            <a:ext cx="17811318" cy="9525"/>
            <a:chOff x="0" y="0"/>
            <a:chExt cx="23748424" cy="12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748423" cy="12700"/>
            </a:xfrm>
            <a:custGeom>
              <a:avLst/>
              <a:gdLst/>
              <a:ahLst/>
              <a:cxnLst/>
              <a:rect r="r" b="b" t="t" l="l"/>
              <a:pathLst>
                <a:path h="12700" w="23748423">
                  <a:moveTo>
                    <a:pt x="0" y="0"/>
                  </a:moveTo>
                  <a:lnTo>
                    <a:pt x="23748423" y="0"/>
                  </a:lnTo>
                  <a:lnTo>
                    <a:pt x="237484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3748424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8165" y="5064252"/>
            <a:ext cx="17811318" cy="1047750"/>
            <a:chOff x="0" y="0"/>
            <a:chExt cx="23748424" cy="1397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748423" cy="1397000"/>
            </a:xfrm>
            <a:custGeom>
              <a:avLst/>
              <a:gdLst/>
              <a:ahLst/>
              <a:cxnLst/>
              <a:rect r="r" b="b" t="t" l="l"/>
              <a:pathLst>
                <a:path h="1397000" w="23748423">
                  <a:moveTo>
                    <a:pt x="0" y="0"/>
                  </a:moveTo>
                  <a:lnTo>
                    <a:pt x="23748423" y="0"/>
                  </a:lnTo>
                  <a:lnTo>
                    <a:pt x="23748423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6EE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3748424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8165" y="5064252"/>
            <a:ext cx="62133" cy="1047750"/>
            <a:chOff x="0" y="0"/>
            <a:chExt cx="82843" cy="1397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843" cy="1397000"/>
            </a:xfrm>
            <a:custGeom>
              <a:avLst/>
              <a:gdLst/>
              <a:ahLst/>
              <a:cxnLst/>
              <a:rect r="r" b="b" t="t" l="l"/>
              <a:pathLst>
                <a:path h="1397000" w="82843">
                  <a:moveTo>
                    <a:pt x="0" y="0"/>
                  </a:moveTo>
                  <a:lnTo>
                    <a:pt x="82843" y="0"/>
                  </a:lnTo>
                  <a:lnTo>
                    <a:pt x="82843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2843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56695" y="5350002"/>
            <a:ext cx="244387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Hierarchical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066261" y="5426202"/>
            <a:ext cx="4929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E1A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k=4 · complete linkage · euclidean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243969" y="5350002"/>
            <a:ext cx="18225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0.2996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15053" y="5350002"/>
            <a:ext cx="223677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1.5969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00353" y="5350002"/>
            <a:ext cx="2650987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761.0220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5699870" y="5426202"/>
            <a:ext cx="1449758" cy="323850"/>
            <a:chOff x="0" y="0"/>
            <a:chExt cx="1933011" cy="431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33011" cy="431800"/>
            </a:xfrm>
            <a:custGeom>
              <a:avLst/>
              <a:gdLst/>
              <a:ahLst/>
              <a:cxnLst/>
              <a:rect r="r" b="b" t="t" l="l"/>
              <a:pathLst>
                <a:path h="431800" w="1933011">
                  <a:moveTo>
                    <a:pt x="0" y="0"/>
                  </a:moveTo>
                  <a:lnTo>
                    <a:pt x="1933011" y="0"/>
                  </a:lnTo>
                  <a:lnTo>
                    <a:pt x="1933011" y="431800"/>
                  </a:lnTo>
                  <a:lnTo>
                    <a:pt x="0" y="4318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33011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5699870" y="5473827"/>
            <a:ext cx="1449758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050" spc="262">
                <a:solidFill>
                  <a:srgbClr val="F5F2EC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WINNER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08165" y="6112002"/>
            <a:ext cx="17811318" cy="9525"/>
            <a:chOff x="0" y="0"/>
            <a:chExt cx="23748424" cy="127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748423" cy="12700"/>
            </a:xfrm>
            <a:custGeom>
              <a:avLst/>
              <a:gdLst/>
              <a:ahLst/>
              <a:cxnLst/>
              <a:rect r="r" b="b" t="t" l="l"/>
              <a:pathLst>
                <a:path h="12700" w="23748423">
                  <a:moveTo>
                    <a:pt x="0" y="0"/>
                  </a:moveTo>
                  <a:lnTo>
                    <a:pt x="23748423" y="0"/>
                  </a:lnTo>
                  <a:lnTo>
                    <a:pt x="2374842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3748424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08165" y="6112002"/>
            <a:ext cx="17811318" cy="1047750"/>
            <a:chOff x="0" y="0"/>
            <a:chExt cx="23748424" cy="1397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48423" cy="1397000"/>
            </a:xfrm>
            <a:custGeom>
              <a:avLst/>
              <a:gdLst/>
              <a:ahLst/>
              <a:cxnLst/>
              <a:rect r="r" b="b" t="t" l="l"/>
              <a:pathLst>
                <a:path h="1397000" w="23748423">
                  <a:moveTo>
                    <a:pt x="0" y="0"/>
                  </a:moveTo>
                  <a:lnTo>
                    <a:pt x="23748423" y="0"/>
                  </a:lnTo>
                  <a:lnTo>
                    <a:pt x="23748423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3748424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08165" y="6112002"/>
            <a:ext cx="62133" cy="1047750"/>
            <a:chOff x="0" y="0"/>
            <a:chExt cx="82843" cy="1397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843" cy="1397000"/>
            </a:xfrm>
            <a:custGeom>
              <a:avLst/>
              <a:gdLst/>
              <a:ahLst/>
              <a:cxnLst/>
              <a:rect r="r" b="b" t="t" l="l"/>
              <a:pathLst>
                <a:path h="1397000" w="82843">
                  <a:moveTo>
                    <a:pt x="0" y="0"/>
                  </a:moveTo>
                  <a:lnTo>
                    <a:pt x="82843" y="0"/>
                  </a:lnTo>
                  <a:lnTo>
                    <a:pt x="82843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2843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456695" y="6397752"/>
            <a:ext cx="244387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GMM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066261" y="6473952"/>
            <a:ext cx="492917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0E1A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n_components=4 · tied covariance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243969" y="6397752"/>
            <a:ext cx="18225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0.2627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15053" y="6397752"/>
            <a:ext cx="223677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1.4685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00353" y="6397752"/>
            <a:ext cx="2650987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750.3216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699870" y="6493002"/>
            <a:ext cx="223677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9C2B4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—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76300" y="8225331"/>
            <a:ext cx="16383000" cy="1032969"/>
            <a:chOff x="0" y="0"/>
            <a:chExt cx="21844000" cy="13772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844000" cy="1377292"/>
            </a:xfrm>
            <a:custGeom>
              <a:avLst/>
              <a:gdLst/>
              <a:ahLst/>
              <a:cxnLst/>
              <a:rect r="r" b="b" t="t" l="l"/>
              <a:pathLst>
                <a:path h="1377292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1377292"/>
                  </a:lnTo>
                  <a:lnTo>
                    <a:pt x="0" y="1377292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844000" cy="1415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028700" y="8352331"/>
            <a:ext cx="35242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460">
                <a:solidFill>
                  <a:srgbClr val="C9A227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28700" y="8653956"/>
            <a:ext cx="8572500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Hierarchical claims the top Silhouette by a clear margin.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355208" y="8361856"/>
            <a:ext cx="65722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400">
                <a:solidFill>
                  <a:srgbClr val="C9A22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CONVERGENCE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354379" y="8667803"/>
            <a:ext cx="761834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three algorithms independently converge on k = 4.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21/27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9934575"/>
            <a:ext cx="1905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11 /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0" y="9934575"/>
            <a:ext cx="8572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Advanced Data Mining — Aug 4, 2026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8398002"/>
            <a:ext cx="16383000" cy="2095500"/>
            <a:chOff x="0" y="0"/>
            <a:chExt cx="21844000" cy="279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44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844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8398002"/>
            <a:ext cx="57150" cy="2095500"/>
            <a:chOff x="0" y="0"/>
            <a:chExt cx="76200" cy="279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62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80656" y="2873502"/>
            <a:ext cx="16178644" cy="5157097"/>
          </a:xfrm>
          <a:custGeom>
            <a:avLst/>
            <a:gdLst/>
            <a:ahLst/>
            <a:cxnLst/>
            <a:rect r="r" b="b" t="t" l="l"/>
            <a:pathLst>
              <a:path h="5157097" w="16178644">
                <a:moveTo>
                  <a:pt x="0" y="0"/>
                </a:moveTo>
                <a:lnTo>
                  <a:pt x="16178644" y="0"/>
                </a:lnTo>
                <a:lnTo>
                  <a:pt x="16178644" y="5157097"/>
                </a:lnTo>
                <a:lnTo>
                  <a:pt x="0" y="515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08 · RESULTS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Visual Cluster Comparison in PCA Space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8250" y="8664702"/>
            <a:ext cx="7620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Reading the scatter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250" y="9207627"/>
            <a:ext cx="15811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0E1A2B"/>
                </a:solidFill>
                <a:latin typeface="IBM Plex Sans"/>
                <a:ea typeface="IBM Plex Sans"/>
                <a:cs typeface="IBM Plex Sans"/>
                <a:sym typeface="IBM Plex Sans"/>
              </a:rPr>
              <a:t>Hierarchical clusters appear visibly more compact and better separated than K-Means or GMM. This tighter partition in PCA space corresponds directly to its superior Silhouette score — cohesion within clusters and clear distance between them.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39000" y="4016502"/>
            <a:ext cx="10096500" cy="1047750"/>
            <a:chOff x="0" y="0"/>
            <a:chExt cx="13462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6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462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39000" y="4016502"/>
            <a:ext cx="57150" cy="1047750"/>
            <a:chOff x="0" y="0"/>
            <a:chExt cx="762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62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39000" y="5140452"/>
            <a:ext cx="10096500" cy="1047750"/>
            <a:chOff x="0" y="0"/>
            <a:chExt cx="13462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6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462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39000" y="5140452"/>
            <a:ext cx="57150" cy="1047750"/>
            <a:chOff x="0" y="0"/>
            <a:chExt cx="76200" cy="139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2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39000" y="6264402"/>
            <a:ext cx="10096500" cy="1047750"/>
            <a:chOff x="0" y="0"/>
            <a:chExt cx="13462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6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462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39000" y="6264402"/>
            <a:ext cx="57150" cy="1047750"/>
            <a:chOff x="0" y="0"/>
            <a:chExt cx="76200" cy="139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2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C9A227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62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39000" y="7388352"/>
            <a:ext cx="10096500" cy="1047750"/>
            <a:chOff x="0" y="0"/>
            <a:chExt cx="13462000" cy="139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6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3462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39000" y="7388352"/>
            <a:ext cx="57150" cy="1047750"/>
            <a:chOff x="0" y="0"/>
            <a:chExt cx="762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62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39000" y="8607552"/>
            <a:ext cx="10096500" cy="571500"/>
            <a:chOff x="0" y="0"/>
            <a:chExt cx="13462000" cy="76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3462000" cy="80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94274" y="3214497"/>
            <a:ext cx="6892326" cy="5947410"/>
          </a:xfrm>
          <a:custGeom>
            <a:avLst/>
            <a:gdLst/>
            <a:ahLst/>
            <a:cxnLst/>
            <a:rect r="r" b="b" t="t" l="l"/>
            <a:pathLst>
              <a:path h="5947410" w="6892326">
                <a:moveTo>
                  <a:pt x="0" y="0"/>
                </a:moveTo>
                <a:lnTo>
                  <a:pt x="6892326" y="0"/>
                </a:lnTo>
                <a:lnTo>
                  <a:pt x="6892326" y="5947410"/>
                </a:lnTo>
                <a:lnTo>
                  <a:pt x="0" y="5947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" t="0" r="-62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09  ·  OUTCOME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Best Model &amp; Customer Personas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39000" y="2987802"/>
            <a:ext cx="100965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3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Four behavioural personas from Hierarchical Clustering.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448550" y="4140327"/>
            <a:ext cx="8191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Recently Active, Frequent, High-Value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621000" y="4121277"/>
            <a:ext cx="152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2F6B4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40,181  ·  81%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448550" y="45213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RECENCY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448550" y="46451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207d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67900" y="45213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67900" y="46451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5.7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87250" y="45213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MONETARY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287250" y="46451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$15,559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06600" y="45213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RETURN 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706600" y="46451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40%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448550" y="5264277"/>
            <a:ext cx="8191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Lapsed / At-Risk, Occasional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621000" y="5245227"/>
            <a:ext cx="152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3D6B8A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4,593  ·  9%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448550" y="56452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RECENCY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448550" y="57691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491d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867900" y="56452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67900" y="57691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2.3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87250" y="56452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MONETARY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287250" y="57691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$7,643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706600" y="56452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RETURN %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706600" y="57691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36%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448550" y="6388227"/>
            <a:ext cx="8191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Recently Active, Budget, Low-Return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621000" y="6369177"/>
            <a:ext cx="152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C9A22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3,629  ·  7%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448550" y="67692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RECENCY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448550" y="68930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404d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867900" y="67692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67900" y="68930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2.7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287250" y="67692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MONETARY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287250" y="68930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$4,318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706600" y="676922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RETURN %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706600" y="689305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33%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48550" y="7512177"/>
            <a:ext cx="81915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Occasional, Budget, High-Return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621000" y="7493127"/>
            <a:ext cx="1524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 b="true">
                <a:solidFill>
                  <a:srgbClr val="C8452B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1,258  ·  3%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448550" y="78931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RECENCY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448550" y="80170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475d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867900" y="78931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FREQ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867900" y="80170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2.1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287250" y="78931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MONETARY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287250" y="80170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$4,294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06600" y="7893177"/>
            <a:ext cx="2419350" cy="12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"/>
              </a:lnSpc>
            </a:pPr>
            <a:r>
              <a:rPr lang="en-US" sz="750" spc="1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RETURN %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06600" y="8017002"/>
            <a:ext cx="24193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C845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97%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429500" y="8759952"/>
            <a:ext cx="9715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i="true">
                <a:solidFill>
                  <a:srgbClr val="F5F2EC"/>
                </a:solidFill>
                <a:latin typeface="IBM Plex Sans Italics"/>
                <a:ea typeface="IBM Plex Sans Italics"/>
                <a:cs typeface="IBM Plex Sans Italics"/>
                <a:sym typeface="IBM Plex Sans Italics"/>
              </a:rPr>
              <a:t>→ The 3% high-return segment may indicate return fraud or persistent product mismatch — a targeted intervention opportunity.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23/27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77475"/>
            <a:ext cx="18288000" cy="9525"/>
            <a:chOff x="0" y="0"/>
            <a:chExt cx="24384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2500" y="9934575"/>
            <a:ext cx="1905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13 /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63000" y="9934575"/>
            <a:ext cx="85725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 spc="210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Advanced Data Mining — Aug 4,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10  ·  REFLECTION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Why Hierarchical Won &amp; Challenges Faced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2968752"/>
            <a:ext cx="8001000" cy="6096000"/>
            <a:chOff x="0" y="0"/>
            <a:chExt cx="10668000" cy="812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80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0E1A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668000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33500" y="3225927"/>
            <a:ext cx="7239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C9A227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HIERARCHICAL WON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3500" y="3559302"/>
            <a:ext cx="7239000" cy="7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F5F2EC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Best cohesion, best separation, matching structure.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3500" y="5035677"/>
            <a:ext cx="381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C9A22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05000" y="5026152"/>
            <a:ext cx="66675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Highest Silhouette Score — the strongest cohesion-versus-separation reading of the three.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3500" y="5797677"/>
            <a:ext cx="381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C9A22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05000" y="5788152"/>
            <a:ext cx="66675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linkage produced compact, balanced clusters well-matched to RFM data shape.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3500" y="6559677"/>
            <a:ext cx="381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C9A227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05000" y="6550152"/>
            <a:ext cx="66675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F5F2EC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Convergent k = 4 cluster count corroborated by K-Means and GMM independently.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34500" y="2968752"/>
            <a:ext cx="8001000" cy="6096000"/>
            <a:chOff x="0" y="0"/>
            <a:chExt cx="10668000" cy="8128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680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668000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4500" y="2968752"/>
            <a:ext cx="8001000" cy="38100"/>
            <a:chOff x="0" y="0"/>
            <a:chExt cx="1066800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68000" cy="50800"/>
            </a:xfrm>
            <a:custGeom>
              <a:avLst/>
              <a:gdLst/>
              <a:ahLst/>
              <a:cxnLst/>
              <a:rect r="r" b="b" t="t" l="l"/>
              <a:pathLst>
                <a:path h="508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668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715500" y="3225927"/>
            <a:ext cx="7239000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210">
                <a:solidFill>
                  <a:srgbClr val="C8452B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CHALLENGES FACED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5500" y="3559302"/>
            <a:ext cx="7239000" cy="368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Trade-offs, caveats, honest limitations.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15500" y="5054727"/>
            <a:ext cx="7239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Scalability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15500" y="5369052"/>
            <a:ext cx="723900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O(n²) memory forced Hierarchical onto a 4,000-customer sample, reducing comparison fairness on absolute metrics.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5500" y="6040564"/>
            <a:ext cx="7239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Deployment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15500" y="6354889"/>
            <a:ext cx="723900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Hierarchical does not predict for new customers — required a surrogate k-NN model to score incoming users.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15500" y="7026402"/>
            <a:ext cx="7239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Preprocessing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715500" y="7340727"/>
            <a:ext cx="7239000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RFM preprocessing (log, cap, standardize) was critical due to skew and outliers.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15500" y="7764589"/>
            <a:ext cx="7239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42" b="true">
                <a:solidFill>
                  <a:srgbClr val="0E1A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Modest scores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15500" y="8078914"/>
            <a:ext cx="7239000" cy="49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7"/>
              </a:lnSpc>
            </a:pPr>
            <a:r>
              <a:rPr lang="en-US" sz="1350">
                <a:solidFill>
                  <a:srgbClr val="5A6472"/>
                </a:solidFill>
                <a:latin typeface="IBM Plex Sans"/>
                <a:ea typeface="IBM Plex Sans"/>
                <a:cs typeface="IBM Plex Sans"/>
                <a:sym typeface="IBM Plex Sans"/>
              </a:rPr>
              <a:t>Silhouettes of 0.20–0.29 reflect natural overlap in real customer behaviour, not weakness of method.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24/27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25"/>
            <a:chOff x="0" y="0"/>
            <a:chExt cx="24384000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700"/>
            </a:xfrm>
            <a:custGeom>
              <a:avLst/>
              <a:gdLst/>
              <a:ahLst/>
              <a:cxnLst/>
              <a:rect r="r" b="b" t="t" l="l"/>
              <a:pathLst>
                <a:path h="12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9C2B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50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1000125"/>
            <a:ext cx="13335000" cy="37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49" spc="601" b="true">
                <a:solidFill>
                  <a:srgbClr val="C8452B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10   ·  REFLECTION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1447800"/>
            <a:ext cx="163830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Future Plan after this 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" y="2378202"/>
            <a:ext cx="762000" cy="28575"/>
            <a:chOff x="0" y="0"/>
            <a:chExt cx="10160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16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2968752"/>
            <a:ext cx="5270500" cy="6667500"/>
            <a:chOff x="0" y="0"/>
            <a:chExt cx="7027333" cy="889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2968752"/>
            <a:ext cx="5270500" cy="57150"/>
            <a:chOff x="0" y="0"/>
            <a:chExt cx="7027333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D6B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95400" y="3664077"/>
            <a:ext cx="45847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Model Deployment &amp; Monitoring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08750" y="2968752"/>
            <a:ext cx="5270500" cy="6667500"/>
            <a:chOff x="0" y="0"/>
            <a:chExt cx="7027333" cy="889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08750" y="2968752"/>
            <a:ext cx="5270500" cy="57150"/>
            <a:chOff x="0" y="0"/>
            <a:chExt cx="7027333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851650" y="3664077"/>
            <a:ext cx="45847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Business Activation &amp; Marketing Strategy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65000" y="2968752"/>
            <a:ext cx="5270500" cy="6667500"/>
            <a:chOff x="0" y="0"/>
            <a:chExt cx="7027333" cy="889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27333" cy="8890000"/>
            </a:xfrm>
            <a:custGeom>
              <a:avLst/>
              <a:gdLst/>
              <a:ahLst/>
              <a:cxnLst/>
              <a:rect r="r" b="b" t="t" l="l"/>
              <a:pathLst>
                <a:path h="88900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027333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065000" y="2968752"/>
            <a:ext cx="5270500" cy="57150"/>
            <a:chOff x="0" y="0"/>
            <a:chExt cx="7027333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27333" cy="76200"/>
            </a:xfrm>
            <a:custGeom>
              <a:avLst/>
              <a:gdLst/>
              <a:ahLst/>
              <a:cxnLst/>
              <a:rect r="r" b="b" t="t" l="l"/>
              <a:pathLst>
                <a:path h="76200" w="7027333">
                  <a:moveTo>
                    <a:pt x="0" y="0"/>
                  </a:moveTo>
                  <a:lnTo>
                    <a:pt x="7027333" y="0"/>
                  </a:lnTo>
                  <a:lnTo>
                    <a:pt x="702733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F6B4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027333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407900" y="3664077"/>
            <a:ext cx="458470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499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Advanced Modeling &amp; Future Iterations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7717" y="4864227"/>
            <a:ext cx="4800067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Production Integration: Deploy the final model via API/pipeline to dynamically segment incoming users.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Drift Monitoring: Continuously track cluster stability (DB, CH metrics) to detect shifting behaviors and data drift.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1650" y="4688014"/>
            <a:ext cx="4433906" cy="315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Personalized Campaigns: Tailor messaging, dynamic recommendations, and promotions based on cluster personas.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Product Alignment: Adapt features and onboarding flows to match segment-specific behaviors.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55512" y="4688014"/>
            <a:ext cx="4689475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Classif</a:t>
            </a: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ier Pipeline: Train an XGBoost/Random Forest model on cluster labels to score new users immediately.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Dynamic Modeling: Upgrade static RFM to time-series models (RNNs/Markov chains) for tracking customer lifecycle shifts.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A/B Testing: Validate ROI and conversion lift by testing segment-targeted strategies against baselines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25/27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500" y="1844062"/>
            <a:ext cx="6598876" cy="6598876"/>
          </a:xfrm>
          <a:custGeom>
            <a:avLst/>
            <a:gdLst/>
            <a:ahLst/>
            <a:cxnLst/>
            <a:rect r="r" b="b" t="t" l="l"/>
            <a:pathLst>
              <a:path h="6598876" w="6598876">
                <a:moveTo>
                  <a:pt x="0" y="0"/>
                </a:moveTo>
                <a:lnTo>
                  <a:pt x="6598876" y="0"/>
                </a:lnTo>
                <a:lnTo>
                  <a:pt x="6598876" y="6598876"/>
                </a:lnTo>
                <a:lnTo>
                  <a:pt x="0" y="659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4414243"/>
            <a:ext cx="6387294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8000" b="true">
                <a:solidFill>
                  <a:srgbClr val="0E1A2B"/>
                </a:solidFill>
                <a:latin typeface="IBM Plex Serif Bold"/>
                <a:ea typeface="IBM Plex Serif Bold"/>
                <a:cs typeface="IBM Plex Serif Bold"/>
                <a:sym typeface="IBM Plex Serif Bold"/>
              </a:rPr>
              <a:t>Demo of ML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25/26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7150" cy="10287000"/>
            <a:chOff x="0" y="0"/>
            <a:chExt cx="76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845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2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06313" y="1115135"/>
            <a:ext cx="8354924" cy="8229600"/>
          </a:xfrm>
          <a:custGeom>
            <a:avLst/>
            <a:gdLst/>
            <a:ahLst/>
            <a:cxnLst/>
            <a:rect r="r" b="b" t="t" l="l"/>
            <a:pathLst>
              <a:path h="8229600" w="8354924">
                <a:moveTo>
                  <a:pt x="0" y="0"/>
                </a:moveTo>
                <a:lnTo>
                  <a:pt x="8354923" y="0"/>
                </a:lnTo>
                <a:lnTo>
                  <a:pt x="835492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07273" y="4100847"/>
            <a:ext cx="6383728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i="true">
                <a:solidFill>
                  <a:srgbClr val="000000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Questions??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54604" y="455295"/>
            <a:ext cx="190500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299">
                <a:solidFill>
                  <a:srgbClr val="5A6472"/>
                </a:solidFill>
                <a:latin typeface="IBM Plex Mono"/>
                <a:ea typeface="IBM Plex Mono"/>
                <a:cs typeface="IBM Plex Mono"/>
                <a:sym typeface="IBM Plex Mono"/>
              </a:rP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DAHRZ3XWmfg</dc:identifier>
  <dcterms:modified xsi:type="dcterms:W3CDTF">2011-08-01T06:04:30Z</dcterms:modified>
  <cp:revision>1</cp:revision>
  <dc:title>01 · CONTEXT</dc:title>
</cp:coreProperties>
</file>